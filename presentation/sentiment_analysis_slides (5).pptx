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Classes</c:v>
                </c:pt>
              </c:strCache>
            </c:strRef>
          </c:tx>
          <c:spPr>
            <a:solidFill>
              <a:schemeClr val="accent1"/>
            </a:solidFill>
            <a:ln w="9525" cap="flat">
              <a:solidFill>
                <a:srgbClr val="F9F9F9"/>
              </a:solidFill>
              <a:prstDash val="solid"/>
              <a:round/>
            </a:ln>
            <a:effectLst/>
          </c:spPr>
          <c:dPt>
            <c:idx val="0"/>
            <c:bubble3D val="0"/>
            <c:spPr>
              <a:solidFill>
                <a:srgbClr val="2471A3"/>
              </a:solidFill>
              <a:effectLst/>
            </c:spPr>
          </c:dPt>
          <c:dPt>
            <c:idx val="1"/>
            <c:bubble3D val="0"/>
            <c:spPr>
              <a:solidFill>
                <a:srgbClr val="1A8449"/>
              </a:solidFill>
              <a:effectLst/>
            </c:spPr>
          </c:dPt>
          <c:dPt>
            <c:idx val="2"/>
            <c:bubble3D val="0"/>
            <c:spPr>
              <a:solidFill>
                <a:srgbClr val="C0392B"/>
              </a:solidFill>
              <a:effectLst/>
            </c:spPr>
          </c:dPt>
          <c:dLbls>
            <c:dLbl>
              <c:idx val="0"/>
              <c:numFmt formatCode="General" sourceLinked="0"/>
              <c:spPr/>
              <c:txPr>
                <a:bodyPr/>
                <a:lstStyle/>
                <a:p>
                  <a:pPr>
                    <a:defRPr sz="1100" b="1" i="0" u="none" strike="noStrike">
                      <a:solidFill>
                        <a:srgbClr val="FFFFFF"/>
                      </a:solidFill>
                      <a:latin typeface="Arial"/>
                    </a:defRPr>
                  </a:pPr>
                </a:p>
              </c:txPr>
              <c:showLegendKey val="0"/>
              <c:showVal val="0"/>
              <c:showCatName val="0"/>
              <c:showSerName val="0"/>
              <c:showPercent val="0"/>
              <c:showBubbleSize val="0"/>
            </c:dLbl>
            <c:dLbl>
              <c:idx val="1"/>
              <c:numFmt formatCode="General" sourceLinked="0"/>
              <c:spPr/>
              <c:txPr>
                <a:bodyPr/>
                <a:lstStyle/>
                <a:p>
                  <a:pPr>
                    <a:defRPr sz="1100" b="1" i="0" u="none" strike="noStrike">
                      <a:solidFill>
                        <a:srgbClr val="FFFFFF"/>
                      </a:solidFill>
                      <a:latin typeface="Arial"/>
                    </a:defRPr>
                  </a:pPr>
                </a:p>
              </c:txPr>
              <c:showLegendKey val="0"/>
              <c:showVal val="0"/>
              <c:showCatName val="0"/>
              <c:showSerName val="0"/>
              <c:showPercent val="0"/>
              <c:showBubbleSize val="0"/>
            </c:dLbl>
            <c:dLbl>
              <c:idx val="2"/>
              <c:numFmt formatCode="General" sourceLinked="0"/>
              <c:spPr/>
              <c:txPr>
                <a:bodyPr/>
                <a:lstStyle/>
                <a:p>
                  <a:pPr>
                    <a:defRPr sz="1100" b="1" i="0" u="none" strike="noStrike">
                      <a:solidFill>
                        <a:srgbClr val="FFFFFF"/>
                      </a:solidFill>
                      <a:latin typeface="Arial"/>
                    </a:defRPr>
                  </a:pPr>
                </a:p>
              </c:txPr>
              <c:showLegendKey val="0"/>
              <c:showVal val="0"/>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Neutral (59.4%)</c:v>
                </c:pt>
                <c:pt idx="1">
                  <c:v>Positive (28.1%)</c:v>
                </c:pt>
                <c:pt idx="2">
                  <c:v>Negative (12.5%)</c:v>
                </c:pt>
              </c:strCache>
            </c:strRef>
          </c:cat>
          <c:val>
            <c:numRef>
              <c:f>Sheet1!$B$2:$B$4</c:f>
              <c:numCache>
                <c:ptCount val="3"/>
                <c:pt idx="0">
                  <c:v>59.4</c:v>
                </c:pt>
                <c:pt idx="1">
                  <c:v>28.1</c:v>
                </c:pt>
                <c:pt idx="2">
                  <c:v>12.5</c:v>
                </c:pt>
              </c:numCache>
            </c:numRef>
          </c:val>
        </c:ser>
        <c:firstSliceAng val="0"/>
      </c:pieChart>
      <c:spPr>
        <a:noFill/>
        <a:ln>
          <a:noFill/>
        </a:ln>
        <a:effectLst/>
      </c:spPr>
    </c:plotArea>
    <c:legend>
      <c:legendPos val="b"/>
      <c:overlay val="0"/>
      <c:txPr>
        <a:bodyPr/>
        <a:lstStyle/>
        <a:p>
          <a:pPr>
            <a:defRPr sz="1000">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3D79"/>
                </a:solidFill>
                <a:latin typeface="Arial"/>
              </a:defRPr>
            </a:pPr>
            <a:r>
              <a:rPr sz="1200" b="0" i="0" u="none" strike="noStrike">
                <a:solidFill>
                  <a:srgbClr val="003D79"/>
                </a:solidFill>
                <a:latin typeface="Arial"/>
              </a:rPr>
              <a:t>Macro-F1 (%)</a:t>
            </a:r>
          </a:p>
        </c:rich>
      </c:tx>
      <c:layout/>
      <c:overlay val="0"/>
    </c:title>
    <c:autoTitleDeleted val="0"/>
    <c:plotArea>
      <c:layout/>
      <c:barChart>
        <c:barDir val="bar"/>
        <c:grouping val="clustered"/>
        <c:varyColors val="0"/>
        <c:ser>
          <c:idx val="0"/>
          <c:order val="0"/>
          <c:tx>
            <c:strRef>
              <c:f>Sheet1!$B$1</c:f>
              <c:strCache>
                <c:ptCount val="1"/>
                <c:pt idx="0">
                  <c:v>Macro-F1</c:v>
                </c:pt>
              </c:strCache>
            </c:strRef>
          </c:tx>
          <c:spPr>
            <a:solidFill>
              <a:srgbClr val="C0392B"/>
            </a:solidFill>
            <a:effectLst/>
          </c:spPr>
          <c:invertIfNegative val="0"/>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8E9BB5"/>
              </a:solidFill>
              <a:effectLst/>
            </c:spPr>
          </c:dPt>
          <c:dPt>
            <c:idx val="2"/>
            <c:invertIfNegative val="0"/>
            <c:bubble3D val="0"/>
            <c:spPr>
              <a:solidFill>
                <a:srgbClr val="8E9BB5"/>
              </a:solidFill>
              <a:effectLst/>
            </c:spPr>
          </c:dPt>
          <c:dPt>
            <c:idx val="3"/>
            <c:invertIfNegative val="0"/>
            <c:bubble3D val="0"/>
            <c:spPr>
              <a:solidFill>
                <a:srgbClr val="2471A3"/>
              </a:solidFill>
              <a:effectLst/>
            </c:spPr>
          </c:dPt>
          <c:dPt>
            <c:idx val="4"/>
            <c:invertIfNegative val="0"/>
            <c:bubble3D val="0"/>
            <c:spPr>
              <a:solidFill>
                <a:srgbClr val="1A5276"/>
              </a:solidFill>
              <a:effectLst/>
            </c:spPr>
          </c:dPt>
          <c:dPt>
            <c:idx val="5"/>
            <c:invertIfNegative val="0"/>
            <c:bubble3D val="0"/>
            <c:spPr>
              <a:solidFill>
                <a:srgbClr val="003D79"/>
              </a:solidFill>
              <a:effectLst/>
            </c:spPr>
          </c:dPt>
          <c:cat>
            <c:multiLvlStrRef>
              <c:f>Sheet1!$A$2:$A$7</c:f>
              <c:multiLvlStrCache>
                <c:ptCount val="6"/>
                <c:lvl>
                  <c:pt idx="0">
                    <c:v>BiLSTM</c:v>
                  </c:pt>
                  <c:pt idx="1">
                    <c:v>LogReg</c:v>
                  </c:pt>
                  <c:pt idx="2">
                    <c:v>NaiveBayes</c:v>
                  </c:pt>
                  <c:pt idx="3">
                    <c:v>BERT</c:v>
                  </c:pt>
                  <c:pt idx="4">
                    <c:v>DistilBERT</c:v>
                  </c:pt>
                  <c:pt idx="5">
                    <c:v>FinBERT</c:v>
                  </c:pt>
                </c:lvl>
              </c:multiLvlStrCache>
            </c:multiLvlStrRef>
          </c:cat>
          <c:val>
            <c:numRef>
              <c:f>Sheet1!$B$2:$B$7</c:f>
              <c:numCache>
                <c:formatCode>General</c:formatCode>
                <c:ptCount val="6"/>
                <c:pt idx="0">
                  <c:v>37.3</c:v>
                </c:pt>
                <c:pt idx="1">
                  <c:v>60.1</c:v>
                </c:pt>
                <c:pt idx="2">
                  <c:v>62.7</c:v>
                </c:pt>
                <c:pt idx="3">
                  <c:v>83.8</c:v>
                </c:pt>
                <c:pt idx="4">
                  <c:v>86</c:v>
                </c:pt>
                <c:pt idx="5">
                  <c:v>87.7</c:v>
                </c:pt>
              </c:numCache>
            </c:numRef>
          </c:val>
        </c:ser>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D79"/>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Shape 1"/>
          <p:cNvSpPr/>
          <p:nvPr/>
        </p:nvSpPr>
        <p:spPr>
          <a:xfrm>
            <a:off x="6217920" y="73152"/>
            <a:ext cx="2926080" cy="5070348"/>
          </a:xfrm>
          <a:prstGeom prst="rect">
            <a:avLst/>
          </a:prstGeom>
          <a:solidFill>
            <a:srgbClr val="002050"/>
          </a:solidFill>
          <a:ln w="12700">
            <a:solidFill>
              <a:srgbClr val="002050"/>
            </a:solidFill>
            <a:prstDash val="solid"/>
          </a:ln>
        </p:spPr>
      </p:sp>
      <p:sp>
        <p:nvSpPr>
          <p:cNvPr id="4" name="Shape 2"/>
          <p:cNvSpPr/>
          <p:nvPr/>
        </p:nvSpPr>
        <p:spPr>
          <a:xfrm>
            <a:off x="6492240" y="457200"/>
            <a:ext cx="2468880" cy="4114800"/>
          </a:xfrm>
          <a:prstGeom prst="rect">
            <a:avLst/>
          </a:prstGeom>
          <a:solidFill>
            <a:srgbClr val="001840"/>
          </a:solidFill>
          <a:ln w="12700">
            <a:solidFill>
              <a:srgbClr val="001840"/>
            </a:solidFill>
            <a:prstDash val="solid"/>
          </a:ln>
        </p:spPr>
      </p:sp>
      <p:sp>
        <p:nvSpPr>
          <p:cNvPr id="5" name="Shape 3"/>
          <p:cNvSpPr/>
          <p:nvPr/>
        </p:nvSpPr>
        <p:spPr>
          <a:xfrm>
            <a:off x="6766560" y="3383280"/>
            <a:ext cx="320040" cy="914400"/>
          </a:xfrm>
          <a:prstGeom prst="rect">
            <a:avLst/>
          </a:prstGeom>
          <a:solidFill>
            <a:srgbClr val="1A5276"/>
          </a:solidFill>
          <a:ln w="12700">
            <a:solidFill>
              <a:srgbClr val="1A5276"/>
            </a:solidFill>
            <a:prstDash val="solid"/>
          </a:ln>
        </p:spPr>
      </p:sp>
      <p:sp>
        <p:nvSpPr>
          <p:cNvPr id="6" name="Shape 4"/>
          <p:cNvSpPr/>
          <p:nvPr/>
        </p:nvSpPr>
        <p:spPr>
          <a:xfrm>
            <a:off x="7223760" y="2286000"/>
            <a:ext cx="320040" cy="2011680"/>
          </a:xfrm>
          <a:prstGeom prst="rect">
            <a:avLst/>
          </a:prstGeom>
          <a:solidFill>
            <a:srgbClr val="2471A3"/>
          </a:solidFill>
          <a:ln w="12700">
            <a:solidFill>
              <a:srgbClr val="2471A3"/>
            </a:solidFill>
            <a:prstDash val="solid"/>
          </a:ln>
        </p:spPr>
      </p:sp>
      <p:sp>
        <p:nvSpPr>
          <p:cNvPr id="7" name="Shape 5"/>
          <p:cNvSpPr/>
          <p:nvPr/>
        </p:nvSpPr>
        <p:spPr>
          <a:xfrm>
            <a:off x="7680960" y="2926080"/>
            <a:ext cx="320040" cy="1371600"/>
          </a:xfrm>
          <a:prstGeom prst="rect">
            <a:avLst/>
          </a:prstGeom>
          <a:solidFill>
            <a:srgbClr val="C9A84C"/>
          </a:solidFill>
          <a:ln w="12700">
            <a:solidFill>
              <a:srgbClr val="C9A84C"/>
            </a:solidFill>
            <a:prstDash val="solid"/>
          </a:ln>
        </p:spPr>
      </p:sp>
      <p:sp>
        <p:nvSpPr>
          <p:cNvPr id="8" name="Shape 6"/>
          <p:cNvSpPr/>
          <p:nvPr/>
        </p:nvSpPr>
        <p:spPr>
          <a:xfrm>
            <a:off x="8138160" y="1371600"/>
            <a:ext cx="320040" cy="2926080"/>
          </a:xfrm>
          <a:prstGeom prst="rect">
            <a:avLst/>
          </a:prstGeom>
          <a:solidFill>
            <a:srgbClr val="1A8449"/>
          </a:solidFill>
          <a:ln w="12700">
            <a:solidFill>
              <a:srgbClr val="1A8449"/>
            </a:solidFill>
            <a:prstDash val="solid"/>
          </a:ln>
        </p:spPr>
      </p:sp>
      <p:sp>
        <p:nvSpPr>
          <p:cNvPr id="9" name="Text 7"/>
          <p:cNvSpPr/>
          <p:nvPr/>
        </p:nvSpPr>
        <p:spPr>
          <a:xfrm>
            <a:off x="457200" y="1005840"/>
            <a:ext cx="5577840" cy="685800"/>
          </a:xfrm>
          <a:prstGeom prst="rect">
            <a:avLst/>
          </a:prstGeom>
          <a:noFill/>
          <a:ln/>
        </p:spPr>
        <p:txBody>
          <a:bodyPr wrap="square" lIns="0" tIns="0" rIns="0" bIns="0" rtlCol="0" anchor="ctr"/>
          <a:lstStyle/>
          <a:p>
            <a:pPr indent="0" marL="0">
              <a:buNone/>
            </a:pPr>
            <a:r>
              <a:rPr lang="en-US" sz="3400" b="1" dirty="0">
                <a:solidFill>
                  <a:srgbClr val="FFFFFF"/>
                </a:solidFill>
              </a:rPr>
              <a:t>Analyse de Sentiment</a:t>
            </a:r>
            <a:endParaRPr lang="en-US" sz="3400" dirty="0"/>
          </a:p>
        </p:txBody>
      </p:sp>
      <p:sp>
        <p:nvSpPr>
          <p:cNvPr id="10" name="Text 8"/>
          <p:cNvSpPr/>
          <p:nvPr/>
        </p:nvSpPr>
        <p:spPr>
          <a:xfrm>
            <a:off x="457200" y="1691640"/>
            <a:ext cx="5577840" cy="685800"/>
          </a:xfrm>
          <a:prstGeom prst="rect">
            <a:avLst/>
          </a:prstGeom>
          <a:noFill/>
          <a:ln/>
        </p:spPr>
        <p:txBody>
          <a:bodyPr wrap="square" lIns="0" tIns="0" rIns="0" bIns="0" rtlCol="0" anchor="ctr"/>
          <a:lstStyle/>
          <a:p>
            <a:pPr indent="0" marL="0">
              <a:buNone/>
            </a:pPr>
            <a:r>
              <a:rPr lang="en-US" sz="3400" b="1" dirty="0">
                <a:solidFill>
                  <a:srgbClr val="C9A84C"/>
                </a:solidFill>
              </a:rPr>
              <a:t>sur Textes Financiers</a:t>
            </a:r>
            <a:endParaRPr lang="en-US" sz="3400" dirty="0"/>
          </a:p>
        </p:txBody>
      </p:sp>
      <p:sp>
        <p:nvSpPr>
          <p:cNvPr id="11" name="Shape 9"/>
          <p:cNvSpPr/>
          <p:nvPr/>
        </p:nvSpPr>
        <p:spPr>
          <a:xfrm>
            <a:off x="457200" y="2514600"/>
            <a:ext cx="3200400" cy="27432"/>
          </a:xfrm>
          <a:prstGeom prst="rect">
            <a:avLst/>
          </a:prstGeom>
          <a:solidFill>
            <a:srgbClr val="C9A84C"/>
          </a:solidFill>
          <a:ln w="12700">
            <a:solidFill>
              <a:srgbClr val="C9A84C"/>
            </a:solidFill>
            <a:prstDash val="solid"/>
          </a:ln>
        </p:spPr>
      </p:sp>
      <p:sp>
        <p:nvSpPr>
          <p:cNvPr id="12" name="Text 10"/>
          <p:cNvSpPr/>
          <p:nvPr/>
        </p:nvSpPr>
        <p:spPr>
          <a:xfrm>
            <a:off x="457200" y="2651760"/>
            <a:ext cx="5577840" cy="457200"/>
          </a:xfrm>
          <a:prstGeom prst="rect">
            <a:avLst/>
          </a:prstGeom>
          <a:noFill/>
          <a:ln/>
        </p:spPr>
        <p:txBody>
          <a:bodyPr wrap="square" lIns="0" tIns="0" rIns="0" bIns="0" rtlCol="0" anchor="ctr"/>
          <a:lstStyle/>
          <a:p>
            <a:pPr indent="0" marL="0">
              <a:buNone/>
            </a:pPr>
            <a:r>
              <a:rPr lang="en-US" sz="1400" i="1" dirty="0">
                <a:solidFill>
                  <a:srgbClr val="A8C4E0"/>
                </a:solidFill>
              </a:rPr>
              <a:t>Benchmarking Classical ML, Deep Learning et Transformers</a:t>
            </a:r>
            <a:endParaRPr lang="en-US" sz="1400" dirty="0"/>
          </a:p>
        </p:txBody>
      </p:sp>
      <p:sp>
        <p:nvSpPr>
          <p:cNvPr id="13" name="Text 11"/>
          <p:cNvSpPr/>
          <p:nvPr/>
        </p:nvSpPr>
        <p:spPr>
          <a:xfrm>
            <a:off x="457200" y="3383280"/>
            <a:ext cx="5577840" cy="1097280"/>
          </a:xfrm>
          <a:prstGeom prst="rect">
            <a:avLst/>
          </a:prstGeom>
          <a:noFill/>
          <a:ln/>
        </p:spPr>
        <p:txBody>
          <a:bodyPr wrap="square" lIns="0" tIns="0" rIns="0" bIns="0" rtlCol="0" anchor="ctr"/>
          <a:lstStyle/>
          <a:p>
            <a:pPr indent="0" marL="0">
              <a:buNone/>
            </a:pPr>
            <a:r>
              <a:rPr lang="en-US" sz="1300" b="1" dirty="0">
                <a:solidFill>
                  <a:srgbClr val="C8D8E8"/>
                </a:solidFill>
              </a:rPr>
              <a:t>Houssem Majed  ·  Victoria Vidal</a:t>
            </a:r>
            <a:endParaRPr lang="en-US" sz="1300" dirty="0"/>
          </a:p>
          <a:p>
            <a:pPr indent="0" marL="0">
              <a:buNone/>
            </a:pPr>
            <a:r>
              <a:rPr lang="en-US" sz="1300" dirty="0">
                <a:solidFill>
                  <a:srgbClr val="C8D8E8"/>
                </a:solidFill>
              </a:rPr>
              <a:t>Master MoSEF — Deep Learning / NLP</a:t>
            </a:r>
            <a:endParaRPr lang="en-US" sz="1300" dirty="0"/>
          </a:p>
          <a:p>
            <a:pPr indent="0" marL="0">
              <a:buNone/>
            </a:pPr>
            <a:r>
              <a:rPr lang="en-US" sz="1300" dirty="0">
                <a:solidFill>
                  <a:srgbClr val="C8D8E8"/>
                </a:solidFill>
              </a:rPr>
              <a:t>Université Paris 1 Panthéon-Sorbonne — Avril 2026</a:t>
            </a:r>
            <a:endParaRPr lang="en-US" sz="1300" dirty="0"/>
          </a:p>
        </p:txBody>
      </p:sp>
      <p:sp>
        <p:nvSpPr>
          <p:cNvPr id="14" name="Shape 12"/>
          <p:cNvSpPr/>
          <p:nvPr/>
        </p:nvSpPr>
        <p:spPr>
          <a:xfrm>
            <a:off x="0" y="5070348"/>
            <a:ext cx="9144000" cy="73152"/>
          </a:xfrm>
          <a:prstGeom prst="rect">
            <a:avLst/>
          </a:prstGeom>
          <a:solidFill>
            <a:srgbClr val="C9A84C"/>
          </a:solidFill>
          <a:ln w="12700">
            <a:solidFill>
              <a:srgbClr val="C9A84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3D79"/>
          </a:solidFill>
          <a:ln w="12700">
            <a:solidFill>
              <a:srgbClr val="003D79"/>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indent="0" marL="0">
              <a:buNone/>
            </a:pPr>
            <a:r>
              <a:rPr lang="en-US" sz="2200" b="1" dirty="0">
                <a:solidFill>
                  <a:srgbClr val="FFFFFF"/>
                </a:solidFill>
              </a:rPr>
              <a:t>Plan de la présentation</a:t>
            </a:r>
            <a:endParaRPr lang="en-US" sz="2200" dirty="0"/>
          </a:p>
        </p:txBody>
      </p:sp>
      <p:sp>
        <p:nvSpPr>
          <p:cNvPr id="4" name="Shape 2"/>
          <p:cNvSpPr/>
          <p:nvPr/>
        </p:nvSpPr>
        <p:spPr>
          <a:xfrm>
            <a:off x="0" y="0"/>
            <a:ext cx="73152" cy="685800"/>
          </a:xfrm>
          <a:prstGeom prst="rect">
            <a:avLst/>
          </a:prstGeom>
          <a:solidFill>
            <a:srgbClr val="C9A84C"/>
          </a:solidFill>
          <a:ln w="12700">
            <a:solidFill>
              <a:srgbClr val="C9A84C"/>
            </a:solidFill>
            <a:prstDash val="solid"/>
          </a:ln>
        </p:spPr>
      </p:sp>
      <p:sp>
        <p:nvSpPr>
          <p:cNvPr id="5" name="Shape 3"/>
          <p:cNvSpPr/>
          <p:nvPr/>
        </p:nvSpPr>
        <p:spPr>
          <a:xfrm>
            <a:off x="0" y="4983480"/>
            <a:ext cx="9144000" cy="160020"/>
          </a:xfrm>
          <a:prstGeom prst="rect">
            <a:avLst/>
          </a:prstGeom>
          <a:solidFill>
            <a:srgbClr val="003D79"/>
          </a:solidFill>
          <a:ln w="12700">
            <a:solidFill>
              <a:srgbClr val="003D79"/>
            </a:solidFill>
            <a:prstDash val="solid"/>
          </a:ln>
        </p:spPr>
      </p:sp>
      <p:sp>
        <p:nvSpPr>
          <p:cNvPr id="6" name="Text 4"/>
          <p:cNvSpPr/>
          <p:nvPr/>
        </p:nvSpPr>
        <p:spPr>
          <a:xfrm>
            <a:off x="182880" y="4983480"/>
            <a:ext cx="8778240" cy="160020"/>
          </a:xfrm>
          <a:prstGeom prst="rect">
            <a:avLst/>
          </a:prstGeom>
          <a:noFill/>
          <a:ln/>
        </p:spPr>
        <p:txBody>
          <a:bodyPr wrap="square" lIns="0" tIns="0" rIns="0" bIns="0" rtlCol="0" anchor="ctr"/>
          <a:lstStyle/>
          <a:p>
            <a:pPr indent="0" marL="0">
              <a:buNone/>
            </a:pPr>
            <a:r>
              <a:rPr lang="en-US" sz="800" dirty="0">
                <a:solidFill>
                  <a:srgbClr val="FFFFFF"/>
                </a:solidFill>
              </a:rPr>
              <a:t>Analyse de Sentiment Financier — Paris 1 Panthéon-Sorbonne — Avril 2026</a:t>
            </a:r>
            <a:endParaRPr lang="en-US" sz="800" dirty="0"/>
          </a:p>
        </p:txBody>
      </p:sp>
      <p:sp>
        <p:nvSpPr>
          <p:cNvPr id="7" name="Shape 5"/>
          <p:cNvSpPr/>
          <p:nvPr/>
        </p:nvSpPr>
        <p:spPr>
          <a:xfrm>
            <a:off x="365760" y="822960"/>
            <a:ext cx="4206240" cy="1143000"/>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365760" y="822960"/>
            <a:ext cx="502920" cy="1143000"/>
          </a:xfrm>
          <a:prstGeom prst="rect">
            <a:avLst/>
          </a:prstGeom>
          <a:solidFill>
            <a:srgbClr val="003D79"/>
          </a:solidFill>
          <a:ln w="12700">
            <a:solidFill>
              <a:srgbClr val="003D79"/>
            </a:solidFill>
            <a:prstDash val="solid"/>
          </a:ln>
        </p:spPr>
      </p:sp>
      <p:sp>
        <p:nvSpPr>
          <p:cNvPr id="9" name="Text 7"/>
          <p:cNvSpPr/>
          <p:nvPr/>
        </p:nvSpPr>
        <p:spPr>
          <a:xfrm>
            <a:off x="365760" y="822960"/>
            <a:ext cx="502920" cy="1143000"/>
          </a:xfrm>
          <a:prstGeom prst="rect">
            <a:avLst/>
          </a:prstGeom>
          <a:noFill/>
          <a:ln/>
        </p:spPr>
        <p:txBody>
          <a:bodyPr wrap="square" lIns="0" tIns="0" rIns="0" bIns="0" rtlCol="0" anchor="ctr"/>
          <a:lstStyle/>
          <a:p>
            <a:pPr algn="ctr" indent="0" marL="0">
              <a:buNone/>
            </a:pPr>
            <a:r>
              <a:rPr lang="en-US" sz="1600" b="1" dirty="0">
                <a:solidFill>
                  <a:srgbClr val="C9A84C"/>
                </a:solidFill>
              </a:rPr>
              <a:t>01</a:t>
            </a:r>
            <a:endParaRPr lang="en-US" sz="1600" dirty="0"/>
          </a:p>
        </p:txBody>
      </p:sp>
      <p:sp>
        <p:nvSpPr>
          <p:cNvPr id="10" name="Text 8"/>
          <p:cNvSpPr/>
          <p:nvPr/>
        </p:nvSpPr>
        <p:spPr>
          <a:xfrm>
            <a:off x="960120" y="914400"/>
            <a:ext cx="3520440" cy="384048"/>
          </a:xfrm>
          <a:prstGeom prst="rect">
            <a:avLst/>
          </a:prstGeom>
          <a:noFill/>
          <a:ln/>
        </p:spPr>
        <p:txBody>
          <a:bodyPr wrap="square" lIns="0" tIns="0" rIns="0" bIns="0" rtlCol="0" anchor="ctr"/>
          <a:lstStyle/>
          <a:p>
            <a:pPr indent="0" marL="0">
              <a:buNone/>
            </a:pPr>
            <a:r>
              <a:rPr lang="en-US" sz="1300" b="1" dirty="0">
                <a:solidFill>
                  <a:srgbClr val="003D79"/>
                </a:solidFill>
              </a:rPr>
              <a:t>Contexte &amp; Objectifs</a:t>
            </a:r>
            <a:endParaRPr lang="en-US" sz="1300" dirty="0"/>
          </a:p>
        </p:txBody>
      </p:sp>
      <p:sp>
        <p:nvSpPr>
          <p:cNvPr id="11" name="Text 9"/>
          <p:cNvSpPr/>
          <p:nvPr/>
        </p:nvSpPr>
        <p:spPr>
          <a:xfrm>
            <a:off x="960120" y="1298448"/>
            <a:ext cx="3520440" cy="548640"/>
          </a:xfrm>
          <a:prstGeom prst="rect">
            <a:avLst/>
          </a:prstGeom>
          <a:noFill/>
          <a:ln/>
        </p:spPr>
        <p:txBody>
          <a:bodyPr wrap="square" lIns="0" tIns="0" rIns="0" bIns="0" rtlCol="0" anchor="ctr"/>
          <a:lstStyle/>
          <a:p>
            <a:pPr indent="0" marL="0">
              <a:buNone/>
            </a:pPr>
            <a:r>
              <a:rPr lang="en-US" sz="1000" dirty="0">
                <a:solidFill>
                  <a:srgbClr val="64748B"/>
                </a:solidFill>
              </a:rPr>
              <a:t>Problématique et enjeux de l'analyse de sentiment financier</a:t>
            </a:r>
            <a:endParaRPr lang="en-US" sz="1000" dirty="0"/>
          </a:p>
        </p:txBody>
      </p:sp>
      <p:sp>
        <p:nvSpPr>
          <p:cNvPr id="12" name="Shape 10"/>
          <p:cNvSpPr/>
          <p:nvPr/>
        </p:nvSpPr>
        <p:spPr>
          <a:xfrm>
            <a:off x="4846320" y="822960"/>
            <a:ext cx="4206240" cy="1143000"/>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13" name="Shape 11"/>
          <p:cNvSpPr/>
          <p:nvPr/>
        </p:nvSpPr>
        <p:spPr>
          <a:xfrm>
            <a:off x="4846320" y="822960"/>
            <a:ext cx="502920" cy="1143000"/>
          </a:xfrm>
          <a:prstGeom prst="rect">
            <a:avLst/>
          </a:prstGeom>
          <a:solidFill>
            <a:srgbClr val="003D79"/>
          </a:solidFill>
          <a:ln w="12700">
            <a:solidFill>
              <a:srgbClr val="003D79"/>
            </a:solidFill>
            <a:prstDash val="solid"/>
          </a:ln>
        </p:spPr>
      </p:sp>
      <p:sp>
        <p:nvSpPr>
          <p:cNvPr id="14" name="Text 12"/>
          <p:cNvSpPr/>
          <p:nvPr/>
        </p:nvSpPr>
        <p:spPr>
          <a:xfrm>
            <a:off x="4846320" y="822960"/>
            <a:ext cx="502920" cy="1143000"/>
          </a:xfrm>
          <a:prstGeom prst="rect">
            <a:avLst/>
          </a:prstGeom>
          <a:noFill/>
          <a:ln/>
        </p:spPr>
        <p:txBody>
          <a:bodyPr wrap="square" lIns="0" tIns="0" rIns="0" bIns="0" rtlCol="0" anchor="ctr"/>
          <a:lstStyle/>
          <a:p>
            <a:pPr algn="ctr" indent="0" marL="0">
              <a:buNone/>
            </a:pPr>
            <a:r>
              <a:rPr lang="en-US" sz="1600" b="1" dirty="0">
                <a:solidFill>
                  <a:srgbClr val="C9A84C"/>
                </a:solidFill>
              </a:rPr>
              <a:t>02</a:t>
            </a:r>
            <a:endParaRPr lang="en-US" sz="1600" dirty="0"/>
          </a:p>
        </p:txBody>
      </p:sp>
      <p:sp>
        <p:nvSpPr>
          <p:cNvPr id="15" name="Text 13"/>
          <p:cNvSpPr/>
          <p:nvPr/>
        </p:nvSpPr>
        <p:spPr>
          <a:xfrm>
            <a:off x="5440680" y="914400"/>
            <a:ext cx="3520440" cy="384048"/>
          </a:xfrm>
          <a:prstGeom prst="rect">
            <a:avLst/>
          </a:prstGeom>
          <a:noFill/>
          <a:ln/>
        </p:spPr>
        <p:txBody>
          <a:bodyPr wrap="square" lIns="0" tIns="0" rIns="0" bIns="0" rtlCol="0" anchor="ctr"/>
          <a:lstStyle/>
          <a:p>
            <a:pPr indent="0" marL="0">
              <a:buNone/>
            </a:pPr>
            <a:r>
              <a:rPr lang="en-US" sz="1300" b="1" dirty="0">
                <a:solidFill>
                  <a:srgbClr val="003D79"/>
                </a:solidFill>
              </a:rPr>
              <a:t>Dataset &amp; Protocole</a:t>
            </a:r>
            <a:endParaRPr lang="en-US" sz="1300" dirty="0"/>
          </a:p>
        </p:txBody>
      </p:sp>
      <p:sp>
        <p:nvSpPr>
          <p:cNvPr id="16" name="Text 14"/>
          <p:cNvSpPr/>
          <p:nvPr/>
        </p:nvSpPr>
        <p:spPr>
          <a:xfrm>
            <a:off x="5440680" y="1298448"/>
            <a:ext cx="3520440" cy="548640"/>
          </a:xfrm>
          <a:prstGeom prst="rect">
            <a:avLst/>
          </a:prstGeom>
          <a:noFill/>
          <a:ln/>
        </p:spPr>
        <p:txBody>
          <a:bodyPr wrap="square" lIns="0" tIns="0" rIns="0" bIns="0" rtlCol="0" anchor="ctr"/>
          <a:lstStyle/>
          <a:p>
            <a:pPr indent="0" marL="0">
              <a:buNone/>
            </a:pPr>
            <a:r>
              <a:rPr lang="en-US" sz="1000" dirty="0">
                <a:solidFill>
                  <a:srgbClr val="64748B"/>
                </a:solidFill>
              </a:rPr>
              <a:t>FinancialPhraseBank · Split stratifié · Métriques</a:t>
            </a:r>
            <a:endParaRPr lang="en-US" sz="1000" dirty="0"/>
          </a:p>
        </p:txBody>
      </p:sp>
      <p:sp>
        <p:nvSpPr>
          <p:cNvPr id="17" name="Shape 15"/>
          <p:cNvSpPr/>
          <p:nvPr/>
        </p:nvSpPr>
        <p:spPr>
          <a:xfrm>
            <a:off x="365760" y="2148840"/>
            <a:ext cx="4206240" cy="1143000"/>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18" name="Shape 16"/>
          <p:cNvSpPr/>
          <p:nvPr/>
        </p:nvSpPr>
        <p:spPr>
          <a:xfrm>
            <a:off x="365760" y="2148840"/>
            <a:ext cx="502920" cy="1143000"/>
          </a:xfrm>
          <a:prstGeom prst="rect">
            <a:avLst/>
          </a:prstGeom>
          <a:solidFill>
            <a:srgbClr val="003D79"/>
          </a:solidFill>
          <a:ln w="12700">
            <a:solidFill>
              <a:srgbClr val="003D79"/>
            </a:solidFill>
            <a:prstDash val="solid"/>
          </a:ln>
        </p:spPr>
      </p:sp>
      <p:sp>
        <p:nvSpPr>
          <p:cNvPr id="19" name="Text 17"/>
          <p:cNvSpPr/>
          <p:nvPr/>
        </p:nvSpPr>
        <p:spPr>
          <a:xfrm>
            <a:off x="365760" y="2148840"/>
            <a:ext cx="502920" cy="1143000"/>
          </a:xfrm>
          <a:prstGeom prst="rect">
            <a:avLst/>
          </a:prstGeom>
          <a:noFill/>
          <a:ln/>
        </p:spPr>
        <p:txBody>
          <a:bodyPr wrap="square" lIns="0" tIns="0" rIns="0" bIns="0" rtlCol="0" anchor="ctr"/>
          <a:lstStyle/>
          <a:p>
            <a:pPr algn="ctr" indent="0" marL="0">
              <a:buNone/>
            </a:pPr>
            <a:r>
              <a:rPr lang="en-US" sz="1600" b="1" dirty="0">
                <a:solidFill>
                  <a:srgbClr val="C9A84C"/>
                </a:solidFill>
              </a:rPr>
              <a:t>03</a:t>
            </a:r>
            <a:endParaRPr lang="en-US" sz="1600" dirty="0"/>
          </a:p>
        </p:txBody>
      </p:sp>
      <p:sp>
        <p:nvSpPr>
          <p:cNvPr id="20" name="Text 18"/>
          <p:cNvSpPr/>
          <p:nvPr/>
        </p:nvSpPr>
        <p:spPr>
          <a:xfrm>
            <a:off x="960120" y="2240280"/>
            <a:ext cx="3520440" cy="384048"/>
          </a:xfrm>
          <a:prstGeom prst="rect">
            <a:avLst/>
          </a:prstGeom>
          <a:noFill/>
          <a:ln/>
        </p:spPr>
        <p:txBody>
          <a:bodyPr wrap="square" lIns="0" tIns="0" rIns="0" bIns="0" rtlCol="0" anchor="ctr"/>
          <a:lstStyle/>
          <a:p>
            <a:pPr indent="0" marL="0">
              <a:buNone/>
            </a:pPr>
            <a:r>
              <a:rPr lang="en-US" sz="1300" b="1" dirty="0">
                <a:solidFill>
                  <a:srgbClr val="003D79"/>
                </a:solidFill>
              </a:rPr>
              <a:t>Modèles développés</a:t>
            </a:r>
            <a:endParaRPr lang="en-US" sz="1300" dirty="0"/>
          </a:p>
        </p:txBody>
      </p:sp>
      <p:sp>
        <p:nvSpPr>
          <p:cNvPr id="21" name="Text 19"/>
          <p:cNvSpPr/>
          <p:nvPr/>
        </p:nvSpPr>
        <p:spPr>
          <a:xfrm>
            <a:off x="960120" y="2624328"/>
            <a:ext cx="3520440" cy="548640"/>
          </a:xfrm>
          <a:prstGeom prst="rect">
            <a:avLst/>
          </a:prstGeom>
          <a:noFill/>
          <a:ln/>
        </p:spPr>
        <p:txBody>
          <a:bodyPr wrap="square" lIns="0" tIns="0" rIns="0" bIns="0" rtlCol="0" anchor="ctr"/>
          <a:lstStyle/>
          <a:p>
            <a:pPr indent="0" marL="0">
              <a:buNone/>
            </a:pPr>
            <a:r>
              <a:rPr lang="en-US" sz="1000" dirty="0">
                <a:solidFill>
                  <a:srgbClr val="64748B"/>
                </a:solidFill>
              </a:rPr>
              <a:t>Classical ML · BiLSTM · Transformers (BERT, DistilBERT, FinBERT)</a:t>
            </a:r>
            <a:endParaRPr lang="en-US" sz="1000" dirty="0"/>
          </a:p>
        </p:txBody>
      </p:sp>
      <p:sp>
        <p:nvSpPr>
          <p:cNvPr id="22" name="Shape 20"/>
          <p:cNvSpPr/>
          <p:nvPr/>
        </p:nvSpPr>
        <p:spPr>
          <a:xfrm>
            <a:off x="4846320" y="2148840"/>
            <a:ext cx="4206240" cy="1143000"/>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23" name="Shape 21"/>
          <p:cNvSpPr/>
          <p:nvPr/>
        </p:nvSpPr>
        <p:spPr>
          <a:xfrm>
            <a:off x="4846320" y="2148840"/>
            <a:ext cx="502920" cy="1143000"/>
          </a:xfrm>
          <a:prstGeom prst="rect">
            <a:avLst/>
          </a:prstGeom>
          <a:solidFill>
            <a:srgbClr val="003D79"/>
          </a:solidFill>
          <a:ln w="12700">
            <a:solidFill>
              <a:srgbClr val="003D79"/>
            </a:solidFill>
            <a:prstDash val="solid"/>
          </a:ln>
        </p:spPr>
      </p:sp>
      <p:sp>
        <p:nvSpPr>
          <p:cNvPr id="24" name="Text 22"/>
          <p:cNvSpPr/>
          <p:nvPr/>
        </p:nvSpPr>
        <p:spPr>
          <a:xfrm>
            <a:off x="4846320" y="2148840"/>
            <a:ext cx="502920" cy="1143000"/>
          </a:xfrm>
          <a:prstGeom prst="rect">
            <a:avLst/>
          </a:prstGeom>
          <a:noFill/>
          <a:ln/>
        </p:spPr>
        <p:txBody>
          <a:bodyPr wrap="square" lIns="0" tIns="0" rIns="0" bIns="0" rtlCol="0" anchor="ctr"/>
          <a:lstStyle/>
          <a:p>
            <a:pPr algn="ctr" indent="0" marL="0">
              <a:buNone/>
            </a:pPr>
            <a:r>
              <a:rPr lang="en-US" sz="1600" b="1" dirty="0">
                <a:solidFill>
                  <a:srgbClr val="C9A84C"/>
                </a:solidFill>
              </a:rPr>
              <a:t>04</a:t>
            </a:r>
            <a:endParaRPr lang="en-US" sz="1600" dirty="0"/>
          </a:p>
        </p:txBody>
      </p:sp>
      <p:sp>
        <p:nvSpPr>
          <p:cNvPr id="25" name="Text 23"/>
          <p:cNvSpPr/>
          <p:nvPr/>
        </p:nvSpPr>
        <p:spPr>
          <a:xfrm>
            <a:off x="5440680" y="2240280"/>
            <a:ext cx="3520440" cy="384048"/>
          </a:xfrm>
          <a:prstGeom prst="rect">
            <a:avLst/>
          </a:prstGeom>
          <a:noFill/>
          <a:ln/>
        </p:spPr>
        <p:txBody>
          <a:bodyPr wrap="square" lIns="0" tIns="0" rIns="0" bIns="0" rtlCol="0" anchor="ctr"/>
          <a:lstStyle/>
          <a:p>
            <a:pPr indent="0" marL="0">
              <a:buNone/>
            </a:pPr>
            <a:r>
              <a:rPr lang="en-US" sz="1300" b="1" dirty="0">
                <a:solidFill>
                  <a:srgbClr val="003D79"/>
                </a:solidFill>
              </a:rPr>
              <a:t>Résultats &amp; Analyse</a:t>
            </a:r>
            <a:endParaRPr lang="en-US" sz="1300" dirty="0"/>
          </a:p>
        </p:txBody>
      </p:sp>
      <p:sp>
        <p:nvSpPr>
          <p:cNvPr id="26" name="Text 24"/>
          <p:cNvSpPr/>
          <p:nvPr/>
        </p:nvSpPr>
        <p:spPr>
          <a:xfrm>
            <a:off x="5440680" y="2624328"/>
            <a:ext cx="3520440" cy="548640"/>
          </a:xfrm>
          <a:prstGeom prst="rect">
            <a:avLst/>
          </a:prstGeom>
          <a:noFill/>
          <a:ln/>
        </p:spPr>
        <p:txBody>
          <a:bodyPr wrap="square" lIns="0" tIns="0" rIns="0" bIns="0" rtlCol="0" anchor="ctr"/>
          <a:lstStyle/>
          <a:p>
            <a:pPr indent="0" marL="0">
              <a:buNone/>
            </a:pPr>
            <a:r>
              <a:rPr lang="en-US" sz="1000" dirty="0">
                <a:solidFill>
                  <a:srgbClr val="64748B"/>
                </a:solidFill>
              </a:rPr>
              <a:t>Benchmark comparatif · Enseignements clés</a:t>
            </a:r>
            <a:endParaRPr lang="en-US" sz="1000" dirty="0"/>
          </a:p>
        </p:txBody>
      </p:sp>
      <p:sp>
        <p:nvSpPr>
          <p:cNvPr id="27" name="Shape 25"/>
          <p:cNvSpPr/>
          <p:nvPr/>
        </p:nvSpPr>
        <p:spPr>
          <a:xfrm>
            <a:off x="365760" y="3474720"/>
            <a:ext cx="4206240" cy="1143000"/>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28" name="Shape 26"/>
          <p:cNvSpPr/>
          <p:nvPr/>
        </p:nvSpPr>
        <p:spPr>
          <a:xfrm>
            <a:off x="365760" y="3474720"/>
            <a:ext cx="502920" cy="1143000"/>
          </a:xfrm>
          <a:prstGeom prst="rect">
            <a:avLst/>
          </a:prstGeom>
          <a:solidFill>
            <a:srgbClr val="003D79"/>
          </a:solidFill>
          <a:ln w="12700">
            <a:solidFill>
              <a:srgbClr val="003D79"/>
            </a:solidFill>
            <a:prstDash val="solid"/>
          </a:ln>
        </p:spPr>
      </p:sp>
      <p:sp>
        <p:nvSpPr>
          <p:cNvPr id="29" name="Text 27"/>
          <p:cNvSpPr/>
          <p:nvPr/>
        </p:nvSpPr>
        <p:spPr>
          <a:xfrm>
            <a:off x="365760" y="3474720"/>
            <a:ext cx="502920" cy="1143000"/>
          </a:xfrm>
          <a:prstGeom prst="rect">
            <a:avLst/>
          </a:prstGeom>
          <a:noFill/>
          <a:ln/>
        </p:spPr>
        <p:txBody>
          <a:bodyPr wrap="square" lIns="0" tIns="0" rIns="0" bIns="0" rtlCol="0" anchor="ctr"/>
          <a:lstStyle/>
          <a:p>
            <a:pPr algn="ctr" indent="0" marL="0">
              <a:buNone/>
            </a:pPr>
            <a:r>
              <a:rPr lang="en-US" sz="1600" b="1" dirty="0">
                <a:solidFill>
                  <a:srgbClr val="C9A84C"/>
                </a:solidFill>
              </a:rPr>
              <a:t>05</a:t>
            </a:r>
            <a:endParaRPr lang="en-US" sz="1600" dirty="0"/>
          </a:p>
        </p:txBody>
      </p:sp>
      <p:sp>
        <p:nvSpPr>
          <p:cNvPr id="30" name="Text 28"/>
          <p:cNvSpPr/>
          <p:nvPr/>
        </p:nvSpPr>
        <p:spPr>
          <a:xfrm>
            <a:off x="960120" y="3566160"/>
            <a:ext cx="3520440" cy="384048"/>
          </a:xfrm>
          <a:prstGeom prst="rect">
            <a:avLst/>
          </a:prstGeom>
          <a:noFill/>
          <a:ln/>
        </p:spPr>
        <p:txBody>
          <a:bodyPr wrap="square" lIns="0" tIns="0" rIns="0" bIns="0" rtlCol="0" anchor="ctr"/>
          <a:lstStyle/>
          <a:p>
            <a:pPr indent="0" marL="0">
              <a:buNone/>
            </a:pPr>
            <a:r>
              <a:rPr lang="en-US" sz="1300" b="1" dirty="0">
                <a:solidFill>
                  <a:srgbClr val="003D79"/>
                </a:solidFill>
              </a:rPr>
              <a:t>Dashboard Streamlit</a:t>
            </a:r>
            <a:endParaRPr lang="en-US" sz="1300" dirty="0"/>
          </a:p>
        </p:txBody>
      </p:sp>
      <p:sp>
        <p:nvSpPr>
          <p:cNvPr id="31" name="Text 29"/>
          <p:cNvSpPr/>
          <p:nvPr/>
        </p:nvSpPr>
        <p:spPr>
          <a:xfrm>
            <a:off x="960120" y="3950208"/>
            <a:ext cx="3520440" cy="548640"/>
          </a:xfrm>
          <a:prstGeom prst="rect">
            <a:avLst/>
          </a:prstGeom>
          <a:noFill/>
          <a:ln/>
        </p:spPr>
        <p:txBody>
          <a:bodyPr wrap="square" lIns="0" tIns="0" rIns="0" bIns="0" rtlCol="0" anchor="ctr"/>
          <a:lstStyle/>
          <a:p>
            <a:pPr indent="0" marL="0">
              <a:buNone/>
            </a:pPr>
            <a:r>
              <a:rPr lang="en-US" sz="1000" dirty="0">
                <a:solidFill>
                  <a:srgbClr val="64748B"/>
                </a:solidFill>
              </a:rPr>
              <a:t>Fonctionnalités · LIME · Live News · Entrée vocale</a:t>
            </a:r>
            <a:endParaRPr lang="en-US" sz="1000" dirty="0"/>
          </a:p>
        </p:txBody>
      </p:sp>
      <p:sp>
        <p:nvSpPr>
          <p:cNvPr id="32" name="Shape 30"/>
          <p:cNvSpPr/>
          <p:nvPr/>
        </p:nvSpPr>
        <p:spPr>
          <a:xfrm>
            <a:off x="4846320" y="3474720"/>
            <a:ext cx="4206240" cy="1143000"/>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33" name="Shape 31"/>
          <p:cNvSpPr/>
          <p:nvPr/>
        </p:nvSpPr>
        <p:spPr>
          <a:xfrm>
            <a:off x="4846320" y="3474720"/>
            <a:ext cx="502920" cy="1143000"/>
          </a:xfrm>
          <a:prstGeom prst="rect">
            <a:avLst/>
          </a:prstGeom>
          <a:solidFill>
            <a:srgbClr val="003D79"/>
          </a:solidFill>
          <a:ln w="12700">
            <a:solidFill>
              <a:srgbClr val="003D79"/>
            </a:solidFill>
            <a:prstDash val="solid"/>
          </a:ln>
        </p:spPr>
      </p:sp>
      <p:sp>
        <p:nvSpPr>
          <p:cNvPr id="34" name="Text 32"/>
          <p:cNvSpPr/>
          <p:nvPr/>
        </p:nvSpPr>
        <p:spPr>
          <a:xfrm>
            <a:off x="4846320" y="3474720"/>
            <a:ext cx="502920" cy="1143000"/>
          </a:xfrm>
          <a:prstGeom prst="rect">
            <a:avLst/>
          </a:prstGeom>
          <a:noFill/>
          <a:ln/>
        </p:spPr>
        <p:txBody>
          <a:bodyPr wrap="square" lIns="0" tIns="0" rIns="0" bIns="0" rtlCol="0" anchor="ctr"/>
          <a:lstStyle/>
          <a:p>
            <a:pPr algn="ctr" indent="0" marL="0">
              <a:buNone/>
            </a:pPr>
            <a:r>
              <a:rPr lang="en-US" sz="1600" b="1" dirty="0">
                <a:solidFill>
                  <a:srgbClr val="C9A84C"/>
                </a:solidFill>
              </a:rPr>
              <a:t>06</a:t>
            </a:r>
            <a:endParaRPr lang="en-US" sz="1600" dirty="0"/>
          </a:p>
        </p:txBody>
      </p:sp>
      <p:sp>
        <p:nvSpPr>
          <p:cNvPr id="35" name="Text 33"/>
          <p:cNvSpPr/>
          <p:nvPr/>
        </p:nvSpPr>
        <p:spPr>
          <a:xfrm>
            <a:off x="5440680" y="3566160"/>
            <a:ext cx="3520440" cy="384048"/>
          </a:xfrm>
          <a:prstGeom prst="rect">
            <a:avLst/>
          </a:prstGeom>
          <a:noFill/>
          <a:ln/>
        </p:spPr>
        <p:txBody>
          <a:bodyPr wrap="square" lIns="0" tIns="0" rIns="0" bIns="0" rtlCol="0" anchor="ctr"/>
          <a:lstStyle/>
          <a:p>
            <a:pPr indent="0" marL="0">
              <a:buNone/>
            </a:pPr>
            <a:r>
              <a:rPr lang="en-US" sz="1300" b="1" dirty="0">
                <a:solidFill>
                  <a:srgbClr val="003D79"/>
                </a:solidFill>
              </a:rPr>
              <a:t>Difficultés &amp; Conclusion</a:t>
            </a:r>
            <a:endParaRPr lang="en-US" sz="1300" dirty="0"/>
          </a:p>
        </p:txBody>
      </p:sp>
      <p:sp>
        <p:nvSpPr>
          <p:cNvPr id="36" name="Text 34"/>
          <p:cNvSpPr/>
          <p:nvPr/>
        </p:nvSpPr>
        <p:spPr>
          <a:xfrm>
            <a:off x="5440680" y="3950208"/>
            <a:ext cx="3520440" cy="548640"/>
          </a:xfrm>
          <a:prstGeom prst="rect">
            <a:avLst/>
          </a:prstGeom>
          <a:noFill/>
          <a:ln/>
        </p:spPr>
        <p:txBody>
          <a:bodyPr wrap="square" lIns="0" tIns="0" rIns="0" bIns="0" rtlCol="0" anchor="ctr"/>
          <a:lstStyle/>
          <a:p>
            <a:pPr indent="0" marL="0">
              <a:buNone/>
            </a:pPr>
            <a:r>
              <a:rPr lang="en-US" sz="1000" dirty="0">
                <a:solidFill>
                  <a:srgbClr val="64748B"/>
                </a:solidFill>
              </a:rPr>
              <a:t>Challenges techniques · Perspectives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3D79"/>
          </a:solidFill>
          <a:ln w="12700">
            <a:solidFill>
              <a:srgbClr val="003D79"/>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indent="0" marL="0">
              <a:buNone/>
            </a:pPr>
            <a:r>
              <a:rPr lang="en-US" sz="2200" b="1" dirty="0">
                <a:solidFill>
                  <a:srgbClr val="FFFFFF"/>
                </a:solidFill>
              </a:rPr>
              <a:t>Contexte &amp; Objectifs</a:t>
            </a:r>
            <a:endParaRPr lang="en-US" sz="2200" dirty="0"/>
          </a:p>
        </p:txBody>
      </p:sp>
      <p:sp>
        <p:nvSpPr>
          <p:cNvPr id="4" name="Shape 2"/>
          <p:cNvSpPr/>
          <p:nvPr/>
        </p:nvSpPr>
        <p:spPr>
          <a:xfrm>
            <a:off x="0" y="0"/>
            <a:ext cx="73152" cy="685800"/>
          </a:xfrm>
          <a:prstGeom prst="rect">
            <a:avLst/>
          </a:prstGeom>
          <a:solidFill>
            <a:srgbClr val="C9A84C"/>
          </a:solidFill>
          <a:ln w="12700">
            <a:solidFill>
              <a:srgbClr val="C9A84C"/>
            </a:solidFill>
            <a:prstDash val="solid"/>
          </a:ln>
        </p:spPr>
      </p:sp>
      <p:sp>
        <p:nvSpPr>
          <p:cNvPr id="5" name="Shape 3"/>
          <p:cNvSpPr/>
          <p:nvPr/>
        </p:nvSpPr>
        <p:spPr>
          <a:xfrm>
            <a:off x="0" y="4983480"/>
            <a:ext cx="9144000" cy="160020"/>
          </a:xfrm>
          <a:prstGeom prst="rect">
            <a:avLst/>
          </a:prstGeom>
          <a:solidFill>
            <a:srgbClr val="003D79"/>
          </a:solidFill>
          <a:ln w="12700">
            <a:solidFill>
              <a:srgbClr val="003D79"/>
            </a:solidFill>
            <a:prstDash val="solid"/>
          </a:ln>
        </p:spPr>
      </p:sp>
      <p:sp>
        <p:nvSpPr>
          <p:cNvPr id="6" name="Text 4"/>
          <p:cNvSpPr/>
          <p:nvPr/>
        </p:nvSpPr>
        <p:spPr>
          <a:xfrm>
            <a:off x="182880" y="4983480"/>
            <a:ext cx="8778240" cy="160020"/>
          </a:xfrm>
          <a:prstGeom prst="rect">
            <a:avLst/>
          </a:prstGeom>
          <a:noFill/>
          <a:ln/>
        </p:spPr>
        <p:txBody>
          <a:bodyPr wrap="square" lIns="0" tIns="0" rIns="0" bIns="0" rtlCol="0" anchor="ctr"/>
          <a:lstStyle/>
          <a:p>
            <a:pPr indent="0" marL="0">
              <a:buNone/>
            </a:pPr>
            <a:r>
              <a:rPr lang="en-US" sz="800" dirty="0">
                <a:solidFill>
                  <a:srgbClr val="FFFFFF"/>
                </a:solidFill>
              </a:rPr>
              <a:t>Analyse de Sentiment Financier — Paris 1 Panthéon-Sorbonne — Avril 2026</a:t>
            </a:r>
            <a:endParaRPr lang="en-US" sz="800" dirty="0"/>
          </a:p>
        </p:txBody>
      </p:sp>
      <p:sp>
        <p:nvSpPr>
          <p:cNvPr id="7" name="Shape 5"/>
          <p:cNvSpPr/>
          <p:nvPr/>
        </p:nvSpPr>
        <p:spPr>
          <a:xfrm>
            <a:off x="320040" y="822960"/>
            <a:ext cx="4937760" cy="1417320"/>
          </a:xfrm>
          <a:prstGeom prst="rect">
            <a:avLst/>
          </a:prstGeom>
          <a:solidFill>
            <a:srgbClr val="E8F0F8"/>
          </a:solidFill>
          <a:ln w="12700">
            <a:solidFill>
              <a:srgbClr val="003D79"/>
            </a:solidFill>
            <a:prstDash val="solid"/>
          </a:ln>
        </p:spPr>
      </p:sp>
      <p:sp>
        <p:nvSpPr>
          <p:cNvPr id="8" name="Shape 6"/>
          <p:cNvSpPr/>
          <p:nvPr/>
        </p:nvSpPr>
        <p:spPr>
          <a:xfrm>
            <a:off x="320040" y="822960"/>
            <a:ext cx="54864" cy="1417320"/>
          </a:xfrm>
          <a:prstGeom prst="rect">
            <a:avLst/>
          </a:prstGeom>
          <a:solidFill>
            <a:srgbClr val="C9A84C"/>
          </a:solidFill>
          <a:ln w="12700">
            <a:solidFill>
              <a:srgbClr val="C9A84C"/>
            </a:solidFill>
            <a:prstDash val="solid"/>
          </a:ln>
        </p:spPr>
      </p:sp>
      <p:sp>
        <p:nvSpPr>
          <p:cNvPr id="9" name="Text 7"/>
          <p:cNvSpPr/>
          <p:nvPr/>
        </p:nvSpPr>
        <p:spPr>
          <a:xfrm>
            <a:off x="502920" y="868680"/>
            <a:ext cx="4663440" cy="320040"/>
          </a:xfrm>
          <a:prstGeom prst="rect">
            <a:avLst/>
          </a:prstGeom>
          <a:noFill/>
          <a:ln/>
        </p:spPr>
        <p:txBody>
          <a:bodyPr wrap="square" lIns="0" tIns="0" rIns="0" bIns="0" rtlCol="0" anchor="ctr"/>
          <a:lstStyle/>
          <a:p>
            <a:pPr indent="0" marL="0">
              <a:buNone/>
            </a:pPr>
            <a:r>
              <a:rPr lang="en-US" sz="1200" b="1" dirty="0">
                <a:solidFill>
                  <a:srgbClr val="003D79"/>
                </a:solidFill>
              </a:rPr>
              <a:t>Problématique</a:t>
            </a:r>
            <a:endParaRPr lang="en-US" sz="1200" dirty="0"/>
          </a:p>
        </p:txBody>
      </p:sp>
      <p:sp>
        <p:nvSpPr>
          <p:cNvPr id="10" name="Text 8"/>
          <p:cNvSpPr/>
          <p:nvPr/>
        </p:nvSpPr>
        <p:spPr>
          <a:xfrm>
            <a:off x="502920" y="1207008"/>
            <a:ext cx="4663440" cy="914400"/>
          </a:xfrm>
          <a:prstGeom prst="rect">
            <a:avLst/>
          </a:prstGeom>
          <a:noFill/>
          <a:ln/>
        </p:spPr>
        <p:txBody>
          <a:bodyPr wrap="square" lIns="0" tIns="0" rIns="0" bIns="0" rtlCol="0" anchor="ctr"/>
          <a:lstStyle/>
          <a:p>
            <a:pPr indent="0" marL="0">
              <a:buNone/>
            </a:pPr>
            <a:r>
              <a:rPr lang="en-US" sz="1100" dirty="0">
                <a:solidFill>
                  <a:srgbClr val="1E293B"/>
                </a:solidFill>
              </a:rPr>
              <a:t>Les marchés financiers produisent chaque jour un volume massif de textes (communiqués, rapports d'analystes, dépêches Reuters). Classifier automatiquement leur sentiment permet d'extraire un signal utile pour l'aide à la décision.</a:t>
            </a:r>
            <a:endParaRPr lang="en-US" sz="1100" dirty="0"/>
          </a:p>
        </p:txBody>
      </p:sp>
      <p:sp>
        <p:nvSpPr>
          <p:cNvPr id="11" name="Text 9"/>
          <p:cNvSpPr/>
          <p:nvPr/>
        </p:nvSpPr>
        <p:spPr>
          <a:xfrm>
            <a:off x="320040" y="2377440"/>
            <a:ext cx="4937760" cy="548640"/>
          </a:xfrm>
          <a:prstGeom prst="rect">
            <a:avLst/>
          </a:prstGeom>
          <a:noFill/>
          <a:ln/>
        </p:spPr>
        <p:txBody>
          <a:bodyPr wrap="square" lIns="0" tIns="0" rIns="0" bIns="0" rtlCol="0" anchor="ctr"/>
          <a:lstStyle/>
          <a:p>
            <a:pPr indent="0" marL="0">
              <a:buNone/>
            </a:pPr>
            <a:r>
              <a:rPr lang="en-US" sz="1200" dirty="0">
                <a:solidFill>
                  <a:srgbClr val="1E293B"/>
                </a:solidFill>
              </a:rPr>
              <a:t>Objectif : comparer 3 générations d'approches NLP sur une tâche de classification de sentiment financier en 3 classes</a:t>
            </a:r>
            <a:endParaRPr lang="en-US" sz="1200" dirty="0"/>
          </a:p>
        </p:txBody>
      </p:sp>
      <p:sp>
        <p:nvSpPr>
          <p:cNvPr id="12" name="Shape 10"/>
          <p:cNvSpPr/>
          <p:nvPr/>
        </p:nvSpPr>
        <p:spPr>
          <a:xfrm>
            <a:off x="5394960" y="822960"/>
            <a:ext cx="3429000" cy="1143000"/>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13" name="Shape 11"/>
          <p:cNvSpPr/>
          <p:nvPr/>
        </p:nvSpPr>
        <p:spPr>
          <a:xfrm>
            <a:off x="5394960" y="822960"/>
            <a:ext cx="54864" cy="1143000"/>
          </a:xfrm>
          <a:prstGeom prst="rect">
            <a:avLst/>
          </a:prstGeom>
          <a:solidFill>
            <a:srgbClr val="1A5276"/>
          </a:solidFill>
          <a:ln w="12700">
            <a:solidFill>
              <a:srgbClr val="1A5276"/>
            </a:solidFill>
            <a:prstDash val="solid"/>
          </a:ln>
        </p:spPr>
      </p:sp>
      <p:sp>
        <p:nvSpPr>
          <p:cNvPr id="14" name="Text 12"/>
          <p:cNvSpPr/>
          <p:nvPr/>
        </p:nvSpPr>
        <p:spPr>
          <a:xfrm>
            <a:off x="5577840" y="914400"/>
            <a:ext cx="3154680" cy="347472"/>
          </a:xfrm>
          <a:prstGeom prst="rect">
            <a:avLst/>
          </a:prstGeom>
          <a:noFill/>
          <a:ln/>
        </p:spPr>
        <p:txBody>
          <a:bodyPr wrap="square" lIns="0" tIns="0" rIns="0" bIns="0" rtlCol="0" anchor="ctr"/>
          <a:lstStyle/>
          <a:p>
            <a:pPr indent="0" marL="0">
              <a:buNone/>
            </a:pPr>
            <a:r>
              <a:rPr lang="en-US" sz="1300" b="1" dirty="0">
                <a:solidFill>
                  <a:srgbClr val="1A5276"/>
                </a:solidFill>
              </a:rPr>
              <a:t>1. Classical ML</a:t>
            </a:r>
            <a:endParaRPr lang="en-US" sz="1300" dirty="0"/>
          </a:p>
        </p:txBody>
      </p:sp>
      <p:sp>
        <p:nvSpPr>
          <p:cNvPr id="15" name="Text 13"/>
          <p:cNvSpPr/>
          <p:nvPr/>
        </p:nvSpPr>
        <p:spPr>
          <a:xfrm>
            <a:off x="5577840" y="1261872"/>
            <a:ext cx="3154680" cy="594360"/>
          </a:xfrm>
          <a:prstGeom prst="rect">
            <a:avLst/>
          </a:prstGeom>
          <a:noFill/>
          <a:ln/>
        </p:spPr>
        <p:txBody>
          <a:bodyPr wrap="square" lIns="0" tIns="0" rIns="0" bIns="0" rtlCol="0" anchor="ctr"/>
          <a:lstStyle/>
          <a:p>
            <a:pPr indent="0" marL="0">
              <a:buNone/>
            </a:pPr>
            <a:r>
              <a:rPr lang="en-US" sz="1050" dirty="0">
                <a:solidFill>
                  <a:srgbClr val="64748B"/>
                </a:solidFill>
              </a:rPr>
              <a:t>TF-IDF + classifieurs linéaires</a:t>
            </a:r>
            <a:endParaRPr lang="en-US" sz="1050" dirty="0"/>
          </a:p>
          <a:p>
            <a:pPr indent="0" marL="0">
              <a:buNone/>
            </a:pPr>
            <a:r>
              <a:rPr lang="en-US" sz="1050" dirty="0">
                <a:solidFill>
                  <a:srgbClr val="64748B"/>
                </a:solidFill>
              </a:rPr>
              <a:t>(LogReg, Naive Bayes)</a:t>
            </a:r>
            <a:endParaRPr lang="en-US" sz="1050" dirty="0"/>
          </a:p>
        </p:txBody>
      </p:sp>
      <p:sp>
        <p:nvSpPr>
          <p:cNvPr id="16" name="Shape 14"/>
          <p:cNvSpPr/>
          <p:nvPr/>
        </p:nvSpPr>
        <p:spPr>
          <a:xfrm>
            <a:off x="5394960" y="2148840"/>
            <a:ext cx="3429000" cy="1143000"/>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17" name="Shape 15"/>
          <p:cNvSpPr/>
          <p:nvPr/>
        </p:nvSpPr>
        <p:spPr>
          <a:xfrm>
            <a:off x="5394960" y="2148840"/>
            <a:ext cx="54864" cy="1143000"/>
          </a:xfrm>
          <a:prstGeom prst="rect">
            <a:avLst/>
          </a:prstGeom>
          <a:solidFill>
            <a:srgbClr val="154360"/>
          </a:solidFill>
          <a:ln w="12700">
            <a:solidFill>
              <a:srgbClr val="154360"/>
            </a:solidFill>
            <a:prstDash val="solid"/>
          </a:ln>
        </p:spPr>
      </p:sp>
      <p:sp>
        <p:nvSpPr>
          <p:cNvPr id="18" name="Text 16"/>
          <p:cNvSpPr/>
          <p:nvPr/>
        </p:nvSpPr>
        <p:spPr>
          <a:xfrm>
            <a:off x="5577840" y="2240280"/>
            <a:ext cx="3154680" cy="347472"/>
          </a:xfrm>
          <a:prstGeom prst="rect">
            <a:avLst/>
          </a:prstGeom>
          <a:noFill/>
          <a:ln/>
        </p:spPr>
        <p:txBody>
          <a:bodyPr wrap="square" lIns="0" tIns="0" rIns="0" bIns="0" rtlCol="0" anchor="ctr"/>
          <a:lstStyle/>
          <a:p>
            <a:pPr indent="0" marL="0">
              <a:buNone/>
            </a:pPr>
            <a:r>
              <a:rPr lang="en-US" sz="1300" b="1" dirty="0">
                <a:solidFill>
                  <a:srgbClr val="154360"/>
                </a:solidFill>
              </a:rPr>
              <a:t>2. Deep Learning</a:t>
            </a:r>
            <a:endParaRPr lang="en-US" sz="1300" dirty="0"/>
          </a:p>
        </p:txBody>
      </p:sp>
      <p:sp>
        <p:nvSpPr>
          <p:cNvPr id="19" name="Text 17"/>
          <p:cNvSpPr/>
          <p:nvPr/>
        </p:nvSpPr>
        <p:spPr>
          <a:xfrm>
            <a:off x="5577840" y="2587752"/>
            <a:ext cx="3154680" cy="594360"/>
          </a:xfrm>
          <a:prstGeom prst="rect">
            <a:avLst/>
          </a:prstGeom>
          <a:noFill/>
          <a:ln/>
        </p:spPr>
        <p:txBody>
          <a:bodyPr wrap="square" lIns="0" tIns="0" rIns="0" bIns="0" rtlCol="0" anchor="ctr"/>
          <a:lstStyle/>
          <a:p>
            <a:pPr indent="0" marL="0">
              <a:buNone/>
            </a:pPr>
            <a:r>
              <a:rPr lang="en-US" sz="1050" dirty="0">
                <a:solidFill>
                  <a:srgbClr val="64748B"/>
                </a:solidFill>
              </a:rPr>
              <a:t>Bidirectional LSTM</a:t>
            </a:r>
            <a:endParaRPr lang="en-US" sz="1050" dirty="0"/>
          </a:p>
          <a:p>
            <a:pPr indent="0" marL="0">
              <a:buNone/>
            </a:pPr>
            <a:r>
              <a:rPr lang="en-US" sz="1050" dirty="0">
                <a:solidFill>
                  <a:srgbClr val="64748B"/>
                </a:solidFill>
              </a:rPr>
              <a:t>(embeddings appris)</a:t>
            </a:r>
            <a:endParaRPr lang="en-US" sz="1050" dirty="0"/>
          </a:p>
        </p:txBody>
      </p:sp>
      <p:sp>
        <p:nvSpPr>
          <p:cNvPr id="20" name="Shape 18"/>
          <p:cNvSpPr/>
          <p:nvPr/>
        </p:nvSpPr>
        <p:spPr>
          <a:xfrm>
            <a:off x="5394960" y="3474720"/>
            <a:ext cx="3429000" cy="1143000"/>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21" name="Shape 19"/>
          <p:cNvSpPr/>
          <p:nvPr/>
        </p:nvSpPr>
        <p:spPr>
          <a:xfrm>
            <a:off x="5394960" y="3474720"/>
            <a:ext cx="54864" cy="1143000"/>
          </a:xfrm>
          <a:prstGeom prst="rect">
            <a:avLst/>
          </a:prstGeom>
          <a:solidFill>
            <a:srgbClr val="003D79"/>
          </a:solidFill>
          <a:ln w="12700">
            <a:solidFill>
              <a:srgbClr val="003D79"/>
            </a:solidFill>
            <a:prstDash val="solid"/>
          </a:ln>
        </p:spPr>
      </p:sp>
      <p:sp>
        <p:nvSpPr>
          <p:cNvPr id="22" name="Text 20"/>
          <p:cNvSpPr/>
          <p:nvPr/>
        </p:nvSpPr>
        <p:spPr>
          <a:xfrm>
            <a:off x="5577840" y="3566160"/>
            <a:ext cx="3154680" cy="347472"/>
          </a:xfrm>
          <a:prstGeom prst="rect">
            <a:avLst/>
          </a:prstGeom>
          <a:noFill/>
          <a:ln/>
        </p:spPr>
        <p:txBody>
          <a:bodyPr wrap="square" lIns="0" tIns="0" rIns="0" bIns="0" rtlCol="0" anchor="ctr"/>
          <a:lstStyle/>
          <a:p>
            <a:pPr indent="0" marL="0">
              <a:buNone/>
            </a:pPr>
            <a:r>
              <a:rPr lang="en-US" sz="1300" b="1" dirty="0">
                <a:solidFill>
                  <a:srgbClr val="003D79"/>
                </a:solidFill>
              </a:rPr>
              <a:t>3. Transformers</a:t>
            </a:r>
            <a:endParaRPr lang="en-US" sz="1300" dirty="0"/>
          </a:p>
        </p:txBody>
      </p:sp>
      <p:sp>
        <p:nvSpPr>
          <p:cNvPr id="23" name="Text 21"/>
          <p:cNvSpPr/>
          <p:nvPr/>
        </p:nvSpPr>
        <p:spPr>
          <a:xfrm>
            <a:off x="5577840" y="3913632"/>
            <a:ext cx="3154680" cy="594360"/>
          </a:xfrm>
          <a:prstGeom prst="rect">
            <a:avLst/>
          </a:prstGeom>
          <a:noFill/>
          <a:ln/>
        </p:spPr>
        <p:txBody>
          <a:bodyPr wrap="square" lIns="0" tIns="0" rIns="0" bIns="0" rtlCol="0" anchor="ctr"/>
          <a:lstStyle/>
          <a:p>
            <a:pPr indent="0" marL="0">
              <a:buNone/>
            </a:pPr>
            <a:r>
              <a:rPr lang="en-US" sz="1050" dirty="0">
                <a:solidFill>
                  <a:srgbClr val="64748B"/>
                </a:solidFill>
              </a:rPr>
              <a:t>BERT · DistilBERT · FinBERT</a:t>
            </a:r>
            <a:endParaRPr lang="en-US" sz="1050" dirty="0"/>
          </a:p>
          <a:p>
            <a:pPr indent="0" marL="0">
              <a:buNone/>
            </a:pPr>
            <a:r>
              <a:rPr lang="en-US" sz="1050" dirty="0">
                <a:solidFill>
                  <a:srgbClr val="64748B"/>
                </a:solidFill>
              </a:rPr>
              <a:t>(pré-entraînés, fine-tunés)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3D79"/>
          </a:solidFill>
          <a:ln w="12700">
            <a:solidFill>
              <a:srgbClr val="003D79"/>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indent="0" marL="0">
              <a:buNone/>
            </a:pPr>
            <a:r>
              <a:rPr lang="en-US" sz="2200" b="1" dirty="0">
                <a:solidFill>
                  <a:srgbClr val="FFFFFF"/>
                </a:solidFill>
              </a:rPr>
              <a:t>Dataset — FinancialPhraseBank</a:t>
            </a:r>
            <a:endParaRPr lang="en-US" sz="2200" dirty="0"/>
          </a:p>
        </p:txBody>
      </p:sp>
      <p:sp>
        <p:nvSpPr>
          <p:cNvPr id="4" name="Shape 2"/>
          <p:cNvSpPr/>
          <p:nvPr/>
        </p:nvSpPr>
        <p:spPr>
          <a:xfrm>
            <a:off x="0" y="0"/>
            <a:ext cx="73152" cy="685800"/>
          </a:xfrm>
          <a:prstGeom prst="rect">
            <a:avLst/>
          </a:prstGeom>
          <a:solidFill>
            <a:srgbClr val="C9A84C"/>
          </a:solidFill>
          <a:ln w="12700">
            <a:solidFill>
              <a:srgbClr val="C9A84C"/>
            </a:solidFill>
            <a:prstDash val="solid"/>
          </a:ln>
        </p:spPr>
      </p:sp>
      <p:sp>
        <p:nvSpPr>
          <p:cNvPr id="5" name="Shape 3"/>
          <p:cNvSpPr/>
          <p:nvPr/>
        </p:nvSpPr>
        <p:spPr>
          <a:xfrm>
            <a:off x="0" y="4983480"/>
            <a:ext cx="9144000" cy="160020"/>
          </a:xfrm>
          <a:prstGeom prst="rect">
            <a:avLst/>
          </a:prstGeom>
          <a:solidFill>
            <a:srgbClr val="003D79"/>
          </a:solidFill>
          <a:ln w="12700">
            <a:solidFill>
              <a:srgbClr val="003D79"/>
            </a:solidFill>
            <a:prstDash val="solid"/>
          </a:ln>
        </p:spPr>
      </p:sp>
      <p:sp>
        <p:nvSpPr>
          <p:cNvPr id="6" name="Text 4"/>
          <p:cNvSpPr/>
          <p:nvPr/>
        </p:nvSpPr>
        <p:spPr>
          <a:xfrm>
            <a:off x="182880" y="4983480"/>
            <a:ext cx="8778240" cy="160020"/>
          </a:xfrm>
          <a:prstGeom prst="rect">
            <a:avLst/>
          </a:prstGeom>
          <a:noFill/>
          <a:ln/>
        </p:spPr>
        <p:txBody>
          <a:bodyPr wrap="square" lIns="0" tIns="0" rIns="0" bIns="0" rtlCol="0" anchor="ctr"/>
          <a:lstStyle/>
          <a:p>
            <a:pPr indent="0" marL="0">
              <a:buNone/>
            </a:pPr>
            <a:r>
              <a:rPr lang="en-US" sz="800" dirty="0">
                <a:solidFill>
                  <a:srgbClr val="FFFFFF"/>
                </a:solidFill>
              </a:rPr>
              <a:t>Analyse de Sentiment Financier — Paris 1 Panthéon-Sorbonne — Avril 2026</a:t>
            </a:r>
            <a:endParaRPr lang="en-US" sz="800" dirty="0"/>
          </a:p>
        </p:txBody>
      </p:sp>
      <p:sp>
        <p:nvSpPr>
          <p:cNvPr id="7" name="Text 5"/>
          <p:cNvSpPr/>
          <p:nvPr/>
        </p:nvSpPr>
        <p:spPr>
          <a:xfrm>
            <a:off x="320040" y="822960"/>
            <a:ext cx="4846320" cy="3474720"/>
          </a:xfrm>
          <a:prstGeom prst="rect">
            <a:avLst/>
          </a:prstGeom>
          <a:noFill/>
          <a:ln/>
        </p:spPr>
        <p:txBody>
          <a:bodyPr wrap="square" lIns="0" tIns="0" rIns="0" bIns="0" rtlCol="0" anchor="ctr"/>
          <a:lstStyle/>
          <a:p>
            <a:pPr indent="0" marL="0">
              <a:buNone/>
            </a:pPr>
            <a:r>
              <a:rPr lang="en-US" sz="1150" b="1" dirty="0">
                <a:solidFill>
                  <a:srgbClr val="1E293B"/>
                </a:solidFill>
              </a:rPr>
              <a:t>Source : </a:t>
            </a:r>
            <a:pPr indent="0" marL="0">
              <a:buNone/>
            </a:pPr>
            <a:r>
              <a:rPr lang="en-US" sz="1150" dirty="0">
                <a:solidFill>
                  <a:srgbClr val="1E293B"/>
                </a:solidFill>
              </a:rPr>
              <a:t>Malo et al. (2014), JASIST 65(4)
</a:t>
            </a:r>
            <a:pPr indent="0" marL="0">
              <a:buNone/>
            </a:pPr>
            <a:r>
              <a:rPr lang="en-US" sz="1150" b="1" dirty="0">
                <a:solidFill>
                  <a:srgbClr val="1E293B"/>
                </a:solidFill>
              </a:rPr>
              <a:t>4 846 phrases </a:t>
            </a:r>
            <a:pPr indent="0" marL="0">
              <a:buNone/>
            </a:pPr>
            <a:r>
              <a:rPr lang="en-US" sz="1150" dirty="0">
                <a:solidFill>
                  <a:srgbClr val="1E293B"/>
                </a:solidFill>
              </a:rPr>
              <a:t>extraites de communiqués financiers (entreprises européennes), annotées par </a:t>
            </a:r>
            <a:pPr indent="0" marL="0">
              <a:buNone/>
            </a:pPr>
            <a:r>
              <a:rPr lang="en-US" sz="1150" b="1" dirty="0">
                <a:solidFill>
                  <a:srgbClr val="1E293B"/>
                </a:solidFill>
              </a:rPr>
              <a:t>16 experts en finance.
</a:t>
            </a:r>
            <a:pPr indent="0" marL="0">
              <a:buNone/>
            </a:pPr>
            <a:r>
              <a:rPr lang="en-US" sz="1150" b="1" i="1" dirty="0">
                <a:solidFill>
                  <a:srgbClr val="1E293B"/>
                </a:solidFill>
              </a:rPr>
              <a:t>Question d'annotation : </a:t>
            </a:r>
            <a:pPr indent="0" marL="0">
              <a:buNone/>
            </a:pPr>
            <a:r>
              <a:rPr lang="en-US" sz="1150" i="1" dirty="0">
                <a:solidFill>
                  <a:srgbClr val="1E293B"/>
                </a:solidFill>
              </a:rPr>
              <a:t>« Cette phrase donne-t-elle une impression positive, négative ou neutre de l'entreprise mentionnée ? »
</a:t>
            </a:r>
            <a:pPr indent="0" marL="0">
              <a:buNone/>
            </a:pPr>
            <a:r>
              <a:rPr lang="en-US" sz="1150" dirty="0">
                <a:solidFill>
                  <a:srgbClr val="1E293B"/>
                </a:solidFill>
              </a:rPr>
              <a:t>Seules les phrases avec accord majoritaire (&gt;50%) sont retenues.</a:t>
            </a:r>
            <a:endParaRPr lang="en-US" sz="1150" dirty="0"/>
          </a:p>
        </p:txBody>
      </p:sp>
      <p:graphicFrame>
        <p:nvGraphicFramePr>
          <p:cNvPr id="8" name="Chart 0" descr=""/>
          <p:cNvGraphicFramePr/>
          <p:nvPr/>
        </p:nvGraphicFramePr>
        <p:xfrm>
          <a:off x="5303520" y="777240"/>
          <a:ext cx="3566160" cy="246888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5303520" y="3383280"/>
            <a:ext cx="3566160" cy="731520"/>
          </a:xfrm>
          <a:prstGeom prst="rect">
            <a:avLst/>
          </a:prstGeom>
          <a:solidFill>
            <a:srgbClr val="FEF3F2"/>
          </a:solidFill>
          <a:ln w="12700">
            <a:solidFill>
              <a:srgbClr val="C0392B"/>
            </a:solidFill>
            <a:prstDash val="solid"/>
          </a:ln>
        </p:spPr>
      </p:sp>
      <p:sp>
        <p:nvSpPr>
          <p:cNvPr id="10" name="Shape 7"/>
          <p:cNvSpPr/>
          <p:nvPr/>
        </p:nvSpPr>
        <p:spPr>
          <a:xfrm>
            <a:off x="5303520" y="3383280"/>
            <a:ext cx="54864" cy="731520"/>
          </a:xfrm>
          <a:prstGeom prst="rect">
            <a:avLst/>
          </a:prstGeom>
          <a:solidFill>
            <a:srgbClr val="C0392B"/>
          </a:solidFill>
          <a:ln w="12700">
            <a:solidFill>
              <a:srgbClr val="C0392B"/>
            </a:solidFill>
            <a:prstDash val="solid"/>
          </a:ln>
        </p:spPr>
      </p:sp>
      <p:sp>
        <p:nvSpPr>
          <p:cNvPr id="11" name="Text 8"/>
          <p:cNvSpPr/>
          <p:nvPr/>
        </p:nvSpPr>
        <p:spPr>
          <a:xfrm>
            <a:off x="5440680" y="3401568"/>
            <a:ext cx="3337560" cy="694944"/>
          </a:xfrm>
          <a:prstGeom prst="rect">
            <a:avLst/>
          </a:prstGeom>
          <a:noFill/>
          <a:ln/>
        </p:spPr>
        <p:txBody>
          <a:bodyPr wrap="square" lIns="0" tIns="0" rIns="0" bIns="0" rtlCol="0" anchor="ctr"/>
          <a:lstStyle/>
          <a:p>
            <a:pPr indent="0" marL="0">
              <a:buNone/>
            </a:pPr>
            <a:r>
              <a:rPr lang="en-US" sz="950" dirty="0">
                <a:solidFill>
                  <a:srgbClr val="C0392B"/>
                </a:solidFill>
              </a:rPr>
              <a:t>⚠  Déséquilibre important : la classe négative ne représente que 12.5% du dataset → impacte directement le choix de la métrique d'évaluation.</a:t>
            </a:r>
            <a:endParaRPr lang="en-US" sz="950" dirty="0"/>
          </a:p>
        </p:txBody>
      </p:sp>
      <p:sp>
        <p:nvSpPr>
          <p:cNvPr id="12" name="Text 9"/>
          <p:cNvSpPr/>
          <p:nvPr/>
        </p:nvSpPr>
        <p:spPr>
          <a:xfrm>
            <a:off x="320040" y="3611880"/>
            <a:ext cx="4846320" cy="256032"/>
          </a:xfrm>
          <a:prstGeom prst="rect">
            <a:avLst/>
          </a:prstGeom>
          <a:noFill/>
          <a:ln/>
        </p:spPr>
        <p:txBody>
          <a:bodyPr wrap="square" lIns="0" tIns="0" rIns="0" bIns="0" rtlCol="0" anchor="ctr"/>
          <a:lstStyle/>
          <a:p>
            <a:pPr indent="0" marL="0">
              <a:buNone/>
            </a:pPr>
            <a:r>
              <a:rPr lang="en-US" sz="1100" b="1" dirty="0">
                <a:solidFill>
                  <a:srgbClr val="003D79"/>
                </a:solidFill>
              </a:rPr>
              <a:t>Split stratifié (seed=42) :</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20040" y="3867912"/>
          <a:ext cx="4572000" cy="1005840"/>
        </p:xfrm>
        <a:graphic>
          <a:graphicData uri="http://schemas.openxmlformats.org/drawingml/2006/table">
            <a:tbl>
              <a:tblPr/>
              <a:tblGrid>
                <a:gridCol w="1371600"/>
                <a:gridCol w="1645920"/>
                <a:gridCol w="1554480"/>
              </a:tblGrid>
              <a:tr h="251460">
                <a:tc>
                  <a:txBody>
                    <a:bodyPr/>
                    <a:lstStyle/>
                    <a:p>
                      <a:pPr algn="ctr" indent="0" marL="0">
                        <a:buNone/>
                      </a:pPr>
                      <a:r>
                        <a:rPr lang="en-US" sz="1000" b="1" dirty="0">
                          <a:solidFill>
                            <a:srgbClr val="FFFFFF"/>
                          </a:solidFill>
                        </a:rPr>
                        <a:t>Split</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3D79"/>
                    </a:solidFill>
                  </a:tcPr>
                </a:tc>
                <a:tc>
                  <a:txBody>
                    <a:bodyPr/>
                    <a:lstStyle/>
                    <a:p>
                      <a:pPr algn="ctr" indent="0" marL="0">
                        <a:buNone/>
                      </a:pPr>
                      <a:r>
                        <a:rPr lang="en-US" sz="1000" b="1" dirty="0">
                          <a:solidFill>
                            <a:srgbClr val="FFFFFF"/>
                          </a:solidFill>
                        </a:rPr>
                        <a:t>Échantillons</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3D79"/>
                    </a:solidFill>
                  </a:tcPr>
                </a:tc>
                <a:tc>
                  <a:txBody>
                    <a:bodyPr/>
                    <a:lstStyle/>
                    <a:p>
                      <a:pPr algn="ctr" indent="0" marL="0">
                        <a:buNone/>
                      </a:pPr>
                      <a:r>
                        <a:rPr lang="en-US" sz="1000" b="1" dirty="0">
                          <a:solidFill>
                            <a:srgbClr val="FFFFFF"/>
                          </a:solidFill>
                        </a:rPr>
                        <a:t>Part</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3D79"/>
                    </a:solidFill>
                  </a:tcPr>
                </a:tc>
              </a:tr>
              <a:tr h="251460">
                <a:tc>
                  <a:txBody>
                    <a:bodyPr/>
                    <a:lstStyle/>
                    <a:p>
                      <a:pPr algn="ctr" indent="0" marL="0">
                        <a:buNone/>
                      </a:pPr>
                      <a:r>
                        <a:rPr lang="en-US" sz="1000" dirty="0">
                          <a:solidFill>
                            <a:srgbClr val="000000"/>
                          </a:solidFill>
                        </a:rPr>
                        <a:t>Train</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3 391</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70%</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51460">
                <a:tc>
                  <a:txBody>
                    <a:bodyPr/>
                    <a:lstStyle/>
                    <a:p>
                      <a:pPr algn="ctr" indent="0" marL="0">
                        <a:buNone/>
                      </a:pPr>
                      <a:r>
                        <a:rPr lang="en-US" sz="1000" dirty="0">
                          <a:solidFill>
                            <a:srgbClr val="000000"/>
                          </a:solidFill>
                        </a:rPr>
                        <a:t>Validation</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485</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10%</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51460">
                <a:tc>
                  <a:txBody>
                    <a:bodyPr/>
                    <a:lstStyle/>
                    <a:p>
                      <a:pPr algn="ctr" indent="0" marL="0">
                        <a:buNone/>
                      </a:pPr>
                      <a:r>
                        <a:rPr lang="en-US" sz="1000" dirty="0">
                          <a:solidFill>
                            <a:srgbClr val="000000"/>
                          </a:solidFill>
                        </a:rPr>
                        <a:t>Test</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970</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20%</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3D79"/>
          </a:solidFill>
          <a:ln w="12700">
            <a:solidFill>
              <a:srgbClr val="003D79"/>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indent="0" marL="0">
              <a:buNone/>
            </a:pPr>
            <a:r>
              <a:rPr lang="en-US" sz="2200" b="1" dirty="0">
                <a:solidFill>
                  <a:srgbClr val="FFFFFF"/>
                </a:solidFill>
              </a:rPr>
              <a:t>Protocole expérimental &amp; Métrique principale</a:t>
            </a:r>
            <a:endParaRPr lang="en-US" sz="2200" dirty="0"/>
          </a:p>
        </p:txBody>
      </p:sp>
      <p:sp>
        <p:nvSpPr>
          <p:cNvPr id="4" name="Shape 2"/>
          <p:cNvSpPr/>
          <p:nvPr/>
        </p:nvSpPr>
        <p:spPr>
          <a:xfrm>
            <a:off x="0" y="0"/>
            <a:ext cx="73152" cy="685800"/>
          </a:xfrm>
          <a:prstGeom prst="rect">
            <a:avLst/>
          </a:prstGeom>
          <a:solidFill>
            <a:srgbClr val="C9A84C"/>
          </a:solidFill>
          <a:ln w="12700">
            <a:solidFill>
              <a:srgbClr val="C9A84C"/>
            </a:solidFill>
            <a:prstDash val="solid"/>
          </a:ln>
        </p:spPr>
      </p:sp>
      <p:sp>
        <p:nvSpPr>
          <p:cNvPr id="5" name="Shape 3"/>
          <p:cNvSpPr/>
          <p:nvPr/>
        </p:nvSpPr>
        <p:spPr>
          <a:xfrm>
            <a:off x="0" y="4983480"/>
            <a:ext cx="9144000" cy="160020"/>
          </a:xfrm>
          <a:prstGeom prst="rect">
            <a:avLst/>
          </a:prstGeom>
          <a:solidFill>
            <a:srgbClr val="003D79"/>
          </a:solidFill>
          <a:ln w="12700">
            <a:solidFill>
              <a:srgbClr val="003D79"/>
            </a:solidFill>
            <a:prstDash val="solid"/>
          </a:ln>
        </p:spPr>
      </p:sp>
      <p:sp>
        <p:nvSpPr>
          <p:cNvPr id="6" name="Text 4"/>
          <p:cNvSpPr/>
          <p:nvPr/>
        </p:nvSpPr>
        <p:spPr>
          <a:xfrm>
            <a:off x="182880" y="4983480"/>
            <a:ext cx="8778240" cy="160020"/>
          </a:xfrm>
          <a:prstGeom prst="rect">
            <a:avLst/>
          </a:prstGeom>
          <a:noFill/>
          <a:ln/>
        </p:spPr>
        <p:txBody>
          <a:bodyPr wrap="square" lIns="0" tIns="0" rIns="0" bIns="0" rtlCol="0" anchor="ctr"/>
          <a:lstStyle/>
          <a:p>
            <a:pPr indent="0" marL="0">
              <a:buNone/>
            </a:pPr>
            <a:r>
              <a:rPr lang="en-US" sz="800" dirty="0">
                <a:solidFill>
                  <a:srgbClr val="FFFFFF"/>
                </a:solidFill>
              </a:rPr>
              <a:t>Analyse de Sentiment Financier — Paris 1 Panthéon-Sorbonne — Avril 2026</a:t>
            </a:r>
            <a:endParaRPr lang="en-US" sz="800" dirty="0"/>
          </a:p>
        </p:txBody>
      </p:sp>
      <p:sp>
        <p:nvSpPr>
          <p:cNvPr id="7" name="Shape 5"/>
          <p:cNvSpPr/>
          <p:nvPr/>
        </p:nvSpPr>
        <p:spPr>
          <a:xfrm>
            <a:off x="320040" y="822960"/>
            <a:ext cx="8503920" cy="1371600"/>
          </a:xfrm>
          <a:prstGeom prst="rect">
            <a:avLst/>
          </a:prstGeom>
          <a:solidFill>
            <a:srgbClr val="E8F0F8"/>
          </a:solidFill>
          <a:ln w="12700">
            <a:solidFill>
              <a:srgbClr val="003D79"/>
            </a:solidFill>
            <a:prstDash val="solid"/>
          </a:ln>
        </p:spPr>
      </p:sp>
      <p:sp>
        <p:nvSpPr>
          <p:cNvPr id="8" name="Shape 6"/>
          <p:cNvSpPr/>
          <p:nvPr/>
        </p:nvSpPr>
        <p:spPr>
          <a:xfrm>
            <a:off x="320040" y="822960"/>
            <a:ext cx="54864" cy="1371600"/>
          </a:xfrm>
          <a:prstGeom prst="rect">
            <a:avLst/>
          </a:prstGeom>
          <a:solidFill>
            <a:srgbClr val="C9A84C"/>
          </a:solidFill>
          <a:ln w="12700">
            <a:solidFill>
              <a:srgbClr val="C9A84C"/>
            </a:solidFill>
            <a:prstDash val="solid"/>
          </a:ln>
        </p:spPr>
      </p:sp>
      <p:sp>
        <p:nvSpPr>
          <p:cNvPr id="9" name="Text 7"/>
          <p:cNvSpPr/>
          <p:nvPr/>
        </p:nvSpPr>
        <p:spPr>
          <a:xfrm>
            <a:off x="502920" y="868680"/>
            <a:ext cx="8138160" cy="320040"/>
          </a:xfrm>
          <a:prstGeom prst="rect">
            <a:avLst/>
          </a:prstGeom>
          <a:noFill/>
          <a:ln/>
        </p:spPr>
        <p:txBody>
          <a:bodyPr wrap="square" lIns="0" tIns="0" rIns="0" bIns="0" rtlCol="0" anchor="ctr"/>
          <a:lstStyle/>
          <a:p>
            <a:pPr indent="0" marL="0">
              <a:buNone/>
            </a:pPr>
            <a:r>
              <a:rPr lang="en-US" sz="1300" b="1" dirty="0">
                <a:solidFill>
                  <a:srgbClr val="003D79"/>
                </a:solidFill>
              </a:rPr>
              <a:t>Pourquoi le Macro-F1 ?</a:t>
            </a:r>
            <a:endParaRPr lang="en-US" sz="1300" dirty="0"/>
          </a:p>
        </p:txBody>
      </p:sp>
      <p:sp>
        <p:nvSpPr>
          <p:cNvPr id="10" name="Text 8"/>
          <p:cNvSpPr/>
          <p:nvPr/>
        </p:nvSpPr>
        <p:spPr>
          <a:xfrm>
            <a:off x="502920" y="1188720"/>
            <a:ext cx="8138160" cy="914400"/>
          </a:xfrm>
          <a:prstGeom prst="rect">
            <a:avLst/>
          </a:prstGeom>
          <a:noFill/>
          <a:ln/>
        </p:spPr>
        <p:txBody>
          <a:bodyPr wrap="square" lIns="0" tIns="0" rIns="0" bIns="0" rtlCol="0" anchor="ctr"/>
          <a:lstStyle/>
          <a:p>
            <a:pPr indent="0" marL="0">
              <a:buNone/>
            </a:pPr>
            <a:r>
              <a:rPr lang="en-US" sz="1100" dirty="0">
                <a:solidFill>
                  <a:srgbClr val="1E293B"/>
                </a:solidFill>
              </a:rPr>
              <a:t>Un modèle qui prédit toujours « neutral » obtient 59% d'accuracy — mais un macro-F1 proche de 0. La classe négative (12.5%) pèse autant que la classe neutre (59.4%) dans le calcul : c'est ce qui rend cette métrique indispensable sur des données déséquilibrées.</a:t>
            </a:r>
            <a:endParaRPr lang="en-US" sz="1100" dirty="0"/>
          </a:p>
        </p:txBody>
      </p:sp>
      <p:sp>
        <p:nvSpPr>
          <p:cNvPr id="11" name="Shape 9"/>
          <p:cNvSpPr/>
          <p:nvPr/>
        </p:nvSpPr>
        <p:spPr>
          <a:xfrm>
            <a:off x="320040" y="2331720"/>
            <a:ext cx="8503920" cy="777240"/>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12" name="Text 10"/>
          <p:cNvSpPr/>
          <p:nvPr/>
        </p:nvSpPr>
        <p:spPr>
          <a:xfrm>
            <a:off x="457200" y="2395728"/>
            <a:ext cx="8229600" cy="640080"/>
          </a:xfrm>
          <a:prstGeom prst="rect">
            <a:avLst/>
          </a:prstGeom>
          <a:noFill/>
          <a:ln/>
        </p:spPr>
        <p:txBody>
          <a:bodyPr wrap="square" lIns="0" tIns="0" rIns="0" bIns="0" rtlCol="0" anchor="ctr"/>
          <a:lstStyle/>
          <a:p>
            <a:pPr algn="ctr" indent="0" marL="0">
              <a:buNone/>
            </a:pPr>
            <a:r>
              <a:rPr lang="en-US" sz="1200" i="1" dirty="0">
                <a:solidFill>
                  <a:srgbClr val="003D79"/>
                </a:solidFill>
              </a:rPr>
              <a:t>Macro-F1  =  (1/C) × Σ F1c     où     F1c = 2 · Précisionc · Rappelc  /  (Précisionc + Rappelc)</a:t>
            </a:r>
            <a:endParaRPr lang="en-US" sz="1200" dirty="0"/>
          </a:p>
        </p:txBody>
      </p:sp>
      <p:sp>
        <p:nvSpPr>
          <p:cNvPr id="13" name="Shape 11"/>
          <p:cNvSpPr/>
          <p:nvPr/>
        </p:nvSpPr>
        <p:spPr>
          <a:xfrm>
            <a:off x="320040" y="3246120"/>
            <a:ext cx="2697480" cy="1417320"/>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14" name="Shape 12"/>
          <p:cNvSpPr/>
          <p:nvPr/>
        </p:nvSpPr>
        <p:spPr>
          <a:xfrm>
            <a:off x="411480" y="3310128"/>
            <a:ext cx="411480" cy="411480"/>
          </a:xfrm>
          <a:prstGeom prst="ellipse">
            <a:avLst/>
          </a:prstGeom>
          <a:solidFill>
            <a:srgbClr val="1A7A4A"/>
          </a:solidFill>
          <a:ln w="12700">
            <a:solidFill>
              <a:srgbClr val="1A7A4A"/>
            </a:solidFill>
            <a:prstDash val="solid"/>
          </a:ln>
        </p:spPr>
      </p:sp>
      <p:sp>
        <p:nvSpPr>
          <p:cNvPr id="15" name="Text 13"/>
          <p:cNvSpPr/>
          <p:nvPr/>
        </p:nvSpPr>
        <p:spPr>
          <a:xfrm>
            <a:off x="411480" y="33101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6" name="Text 14"/>
          <p:cNvSpPr/>
          <p:nvPr/>
        </p:nvSpPr>
        <p:spPr>
          <a:xfrm>
            <a:off x="914400" y="3310128"/>
            <a:ext cx="2011680" cy="411480"/>
          </a:xfrm>
          <a:prstGeom prst="rect">
            <a:avLst/>
          </a:prstGeom>
          <a:noFill/>
          <a:ln/>
        </p:spPr>
        <p:txBody>
          <a:bodyPr wrap="square" lIns="0" tIns="0" rIns="0" bIns="0" rtlCol="0" anchor="ctr"/>
          <a:lstStyle/>
          <a:p>
            <a:pPr indent="0" marL="0">
              <a:buNone/>
            </a:pPr>
            <a:r>
              <a:rPr lang="en-US" sz="1100" b="1" dirty="0">
                <a:solidFill>
                  <a:srgbClr val="003D79"/>
                </a:solidFill>
              </a:rPr>
              <a:t>Équitable entre classes</a:t>
            </a:r>
            <a:endParaRPr lang="en-US" sz="1100" dirty="0"/>
          </a:p>
        </p:txBody>
      </p:sp>
      <p:sp>
        <p:nvSpPr>
          <p:cNvPr id="17" name="Text 15"/>
          <p:cNvSpPr/>
          <p:nvPr/>
        </p:nvSpPr>
        <p:spPr>
          <a:xfrm>
            <a:off x="411480" y="3767328"/>
            <a:ext cx="2514600" cy="777240"/>
          </a:xfrm>
          <a:prstGeom prst="rect">
            <a:avLst/>
          </a:prstGeom>
          <a:noFill/>
          <a:ln/>
        </p:spPr>
        <p:txBody>
          <a:bodyPr wrap="square" lIns="0" tIns="0" rIns="0" bIns="0" rtlCol="0" anchor="ctr"/>
          <a:lstStyle/>
          <a:p>
            <a:pPr indent="0" marL="0">
              <a:buNone/>
            </a:pPr>
            <a:r>
              <a:rPr lang="en-US" sz="1000" dirty="0">
                <a:solidFill>
                  <a:srgbClr val="64748B"/>
                </a:solidFill>
              </a:rPr>
              <a:t>Chacune des 3 classes compte pour 1/3</a:t>
            </a:r>
            <a:endParaRPr lang="en-US" sz="1000" dirty="0"/>
          </a:p>
        </p:txBody>
      </p:sp>
      <p:sp>
        <p:nvSpPr>
          <p:cNvPr id="18" name="Shape 16"/>
          <p:cNvSpPr/>
          <p:nvPr/>
        </p:nvSpPr>
        <p:spPr>
          <a:xfrm>
            <a:off x="3200400" y="3246120"/>
            <a:ext cx="2697480" cy="1417320"/>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19" name="Shape 17"/>
          <p:cNvSpPr/>
          <p:nvPr/>
        </p:nvSpPr>
        <p:spPr>
          <a:xfrm>
            <a:off x="3291840" y="3310128"/>
            <a:ext cx="411480" cy="411480"/>
          </a:xfrm>
          <a:prstGeom prst="ellipse">
            <a:avLst/>
          </a:prstGeom>
          <a:solidFill>
            <a:srgbClr val="C0392B"/>
          </a:solidFill>
          <a:ln w="12700">
            <a:solidFill>
              <a:srgbClr val="C0392B"/>
            </a:solidFill>
            <a:prstDash val="solid"/>
          </a:ln>
        </p:spPr>
      </p:sp>
      <p:sp>
        <p:nvSpPr>
          <p:cNvPr id="20" name="Text 18"/>
          <p:cNvSpPr/>
          <p:nvPr/>
        </p:nvSpPr>
        <p:spPr>
          <a:xfrm>
            <a:off x="3291840" y="33101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9"/>
          <p:cNvSpPr/>
          <p:nvPr/>
        </p:nvSpPr>
        <p:spPr>
          <a:xfrm>
            <a:off x="3794760" y="3310128"/>
            <a:ext cx="2011680" cy="411480"/>
          </a:xfrm>
          <a:prstGeom prst="rect">
            <a:avLst/>
          </a:prstGeom>
          <a:noFill/>
          <a:ln/>
        </p:spPr>
        <p:txBody>
          <a:bodyPr wrap="square" lIns="0" tIns="0" rIns="0" bIns="0" rtlCol="0" anchor="ctr"/>
          <a:lstStyle/>
          <a:p>
            <a:pPr indent="0" marL="0">
              <a:buNone/>
            </a:pPr>
            <a:r>
              <a:rPr lang="en-US" sz="1100" b="1" dirty="0">
                <a:solidFill>
                  <a:srgbClr val="003D79"/>
                </a:solidFill>
              </a:rPr>
              <a:t>Accuracy = trompeuse</a:t>
            </a:r>
            <a:endParaRPr lang="en-US" sz="1100" dirty="0"/>
          </a:p>
        </p:txBody>
      </p:sp>
      <p:sp>
        <p:nvSpPr>
          <p:cNvPr id="22" name="Text 20"/>
          <p:cNvSpPr/>
          <p:nvPr/>
        </p:nvSpPr>
        <p:spPr>
          <a:xfrm>
            <a:off x="3291840" y="3767328"/>
            <a:ext cx="2514600" cy="777240"/>
          </a:xfrm>
          <a:prstGeom prst="rect">
            <a:avLst/>
          </a:prstGeom>
          <a:noFill/>
          <a:ln/>
        </p:spPr>
        <p:txBody>
          <a:bodyPr wrap="square" lIns="0" tIns="0" rIns="0" bIns="0" rtlCol="0" anchor="ctr"/>
          <a:lstStyle/>
          <a:p>
            <a:pPr indent="0" marL="0">
              <a:buNone/>
            </a:pPr>
            <a:r>
              <a:rPr lang="en-US" sz="1000" dirty="0">
                <a:solidFill>
                  <a:srgbClr val="64748B"/>
                </a:solidFill>
              </a:rPr>
              <a:t>BiLSTM : 63.7% acc. mais 37.3% macro-F1</a:t>
            </a:r>
            <a:endParaRPr lang="en-US" sz="1000" dirty="0"/>
          </a:p>
        </p:txBody>
      </p:sp>
      <p:sp>
        <p:nvSpPr>
          <p:cNvPr id="23" name="Shape 21"/>
          <p:cNvSpPr/>
          <p:nvPr/>
        </p:nvSpPr>
        <p:spPr>
          <a:xfrm>
            <a:off x="6080760" y="3246120"/>
            <a:ext cx="2697480" cy="1417320"/>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24" name="Shape 22"/>
          <p:cNvSpPr/>
          <p:nvPr/>
        </p:nvSpPr>
        <p:spPr>
          <a:xfrm>
            <a:off x="6172200" y="3310128"/>
            <a:ext cx="411480" cy="411480"/>
          </a:xfrm>
          <a:prstGeom prst="ellipse">
            <a:avLst/>
          </a:prstGeom>
          <a:solidFill>
            <a:srgbClr val="003D79"/>
          </a:solidFill>
          <a:ln w="12700">
            <a:solidFill>
              <a:srgbClr val="003D79"/>
            </a:solidFill>
            <a:prstDash val="solid"/>
          </a:ln>
        </p:spPr>
      </p:sp>
      <p:sp>
        <p:nvSpPr>
          <p:cNvPr id="25" name="Text 23"/>
          <p:cNvSpPr/>
          <p:nvPr/>
        </p:nvSpPr>
        <p:spPr>
          <a:xfrm>
            <a:off x="6172200" y="33101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6" name="Text 24"/>
          <p:cNvSpPr/>
          <p:nvPr/>
        </p:nvSpPr>
        <p:spPr>
          <a:xfrm>
            <a:off x="6675120" y="3310128"/>
            <a:ext cx="2011680" cy="411480"/>
          </a:xfrm>
          <a:prstGeom prst="rect">
            <a:avLst/>
          </a:prstGeom>
          <a:noFill/>
          <a:ln/>
        </p:spPr>
        <p:txBody>
          <a:bodyPr wrap="square" lIns="0" tIns="0" rIns="0" bIns="0" rtlCol="0" anchor="ctr"/>
          <a:lstStyle/>
          <a:p>
            <a:pPr indent="0" marL="0">
              <a:buNone/>
            </a:pPr>
            <a:r>
              <a:rPr lang="en-US" sz="1100" b="1" dirty="0">
                <a:solidFill>
                  <a:srgbClr val="003D79"/>
                </a:solidFill>
              </a:rPr>
              <a:t>Recall sur la minorité</a:t>
            </a:r>
            <a:endParaRPr lang="en-US" sz="1100" dirty="0"/>
          </a:p>
        </p:txBody>
      </p:sp>
      <p:sp>
        <p:nvSpPr>
          <p:cNvPr id="27" name="Text 25"/>
          <p:cNvSpPr/>
          <p:nvPr/>
        </p:nvSpPr>
        <p:spPr>
          <a:xfrm>
            <a:off x="6172200" y="3767328"/>
            <a:ext cx="2514600" cy="777240"/>
          </a:xfrm>
          <a:prstGeom prst="rect">
            <a:avLst/>
          </a:prstGeom>
          <a:noFill/>
          <a:ln/>
        </p:spPr>
        <p:txBody>
          <a:bodyPr wrap="square" lIns="0" tIns="0" rIns="0" bIns="0" rtlCol="0" anchor="ctr"/>
          <a:lstStyle/>
          <a:p>
            <a:pPr indent="0" marL="0">
              <a:buNone/>
            </a:pPr>
            <a:r>
              <a:rPr lang="en-US" sz="1000" dirty="0">
                <a:solidFill>
                  <a:srgbClr val="64748B"/>
                </a:solidFill>
              </a:rPr>
              <a:t>0% recall sur «negative» → macro-F1 effondré</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3D79"/>
          </a:solidFill>
          <a:ln w="12700">
            <a:solidFill>
              <a:srgbClr val="003D79"/>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indent="0" marL="0">
              <a:buNone/>
            </a:pPr>
            <a:r>
              <a:rPr lang="en-US" sz="2200" b="1" dirty="0">
                <a:solidFill>
                  <a:srgbClr val="FFFFFF"/>
                </a:solidFill>
              </a:rPr>
              <a:t>Modèles développés — Vue d'ensemble</a:t>
            </a:r>
            <a:endParaRPr lang="en-US" sz="2200" dirty="0"/>
          </a:p>
        </p:txBody>
      </p:sp>
      <p:sp>
        <p:nvSpPr>
          <p:cNvPr id="4" name="Shape 2"/>
          <p:cNvSpPr/>
          <p:nvPr/>
        </p:nvSpPr>
        <p:spPr>
          <a:xfrm>
            <a:off x="0" y="0"/>
            <a:ext cx="73152" cy="685800"/>
          </a:xfrm>
          <a:prstGeom prst="rect">
            <a:avLst/>
          </a:prstGeom>
          <a:solidFill>
            <a:srgbClr val="C9A84C"/>
          </a:solidFill>
          <a:ln w="12700">
            <a:solidFill>
              <a:srgbClr val="C9A84C"/>
            </a:solidFill>
            <a:prstDash val="solid"/>
          </a:ln>
        </p:spPr>
      </p:sp>
      <p:sp>
        <p:nvSpPr>
          <p:cNvPr id="5" name="Shape 3"/>
          <p:cNvSpPr/>
          <p:nvPr/>
        </p:nvSpPr>
        <p:spPr>
          <a:xfrm>
            <a:off x="0" y="4983480"/>
            <a:ext cx="9144000" cy="160020"/>
          </a:xfrm>
          <a:prstGeom prst="rect">
            <a:avLst/>
          </a:prstGeom>
          <a:solidFill>
            <a:srgbClr val="003D79"/>
          </a:solidFill>
          <a:ln w="12700">
            <a:solidFill>
              <a:srgbClr val="003D79"/>
            </a:solidFill>
            <a:prstDash val="solid"/>
          </a:ln>
        </p:spPr>
      </p:sp>
      <p:sp>
        <p:nvSpPr>
          <p:cNvPr id="6" name="Text 4"/>
          <p:cNvSpPr/>
          <p:nvPr/>
        </p:nvSpPr>
        <p:spPr>
          <a:xfrm>
            <a:off x="182880" y="4983480"/>
            <a:ext cx="8778240" cy="160020"/>
          </a:xfrm>
          <a:prstGeom prst="rect">
            <a:avLst/>
          </a:prstGeom>
          <a:noFill/>
          <a:ln/>
        </p:spPr>
        <p:txBody>
          <a:bodyPr wrap="square" lIns="0" tIns="0" rIns="0" bIns="0" rtlCol="0" anchor="ctr"/>
          <a:lstStyle/>
          <a:p>
            <a:pPr indent="0" marL="0">
              <a:buNone/>
            </a:pPr>
            <a:r>
              <a:rPr lang="en-US" sz="800" dirty="0">
                <a:solidFill>
                  <a:srgbClr val="FFFFFF"/>
                </a:solidFill>
              </a:rPr>
              <a:t>Analyse de Sentiment Financier — Paris 1 Panthéon-Sorbonne — Avril 2026</a:t>
            </a:r>
            <a:endParaRPr lang="en-US" sz="800" dirty="0"/>
          </a:p>
        </p:txBody>
      </p:sp>
      <p:sp>
        <p:nvSpPr>
          <p:cNvPr id="7" name="Shape 5"/>
          <p:cNvSpPr/>
          <p:nvPr/>
        </p:nvSpPr>
        <p:spPr>
          <a:xfrm>
            <a:off x="274320" y="777240"/>
            <a:ext cx="2834640" cy="438912"/>
          </a:xfrm>
          <a:prstGeom prst="rect">
            <a:avLst/>
          </a:prstGeom>
          <a:solidFill>
            <a:srgbClr val="1A5276"/>
          </a:solidFill>
          <a:ln w="12700">
            <a:solidFill>
              <a:srgbClr val="1A5276"/>
            </a:solidFill>
            <a:prstDash val="solid"/>
          </a:ln>
        </p:spPr>
      </p:sp>
      <p:sp>
        <p:nvSpPr>
          <p:cNvPr id="8" name="Text 6"/>
          <p:cNvSpPr/>
          <p:nvPr/>
        </p:nvSpPr>
        <p:spPr>
          <a:xfrm>
            <a:off x="274320" y="777240"/>
            <a:ext cx="2834640" cy="438912"/>
          </a:xfrm>
          <a:prstGeom prst="rect">
            <a:avLst/>
          </a:prstGeom>
          <a:noFill/>
          <a:ln/>
        </p:spPr>
        <p:txBody>
          <a:bodyPr wrap="square" lIns="0" tIns="0" rIns="0" bIns="0" rtlCol="0" anchor="ctr"/>
          <a:lstStyle/>
          <a:p>
            <a:pPr algn="ctr" indent="0" marL="0">
              <a:buNone/>
            </a:pPr>
            <a:r>
              <a:rPr lang="en-US" sz="1200" b="1" dirty="0">
                <a:solidFill>
                  <a:srgbClr val="FFFFFF"/>
                </a:solidFill>
              </a:rPr>
              <a:t>1. Classical ML</a:t>
            </a:r>
            <a:endParaRPr lang="en-US" sz="1200" dirty="0"/>
          </a:p>
        </p:txBody>
      </p:sp>
      <p:sp>
        <p:nvSpPr>
          <p:cNvPr id="9" name="Shape 7"/>
          <p:cNvSpPr/>
          <p:nvPr/>
        </p:nvSpPr>
        <p:spPr>
          <a:xfrm>
            <a:off x="274320" y="1216152"/>
            <a:ext cx="2834640" cy="3538728"/>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10" name="Text 8"/>
          <p:cNvSpPr/>
          <p:nvPr/>
        </p:nvSpPr>
        <p:spPr>
          <a:xfrm>
            <a:off x="365760" y="1325880"/>
            <a:ext cx="2651760" cy="329184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1E293B"/>
                </a:solidFill>
              </a:rPr>
              <a:t>TF-IDF (unigrammes + bigrammes, 20K features, TF sublinéaire)</a:t>
            </a:r>
            <a:endParaRPr lang="en-US" sz="1000" dirty="0"/>
          </a:p>
          <a:p>
            <a:pPr marL="342900" indent="-342900">
              <a:spcAft>
                <a:spcPts val="400"/>
              </a:spcAft>
              <a:buSzPct val="100000"/>
              <a:buChar char="•"/>
            </a:pPr>
            <a:r>
              <a:rPr lang="en-US" sz="1000" dirty="0">
                <a:solidFill>
                  <a:srgbClr val="1E293B"/>
                </a:solidFill>
              </a:rPr>
              <a:t>Logistic Regression — régularisation L2, solver lbfgs</a:t>
            </a:r>
            <a:endParaRPr lang="en-US" sz="1000" dirty="0"/>
          </a:p>
          <a:p>
            <a:pPr marL="342900" indent="-342900">
              <a:spcAft>
                <a:spcPts val="400"/>
              </a:spcAft>
              <a:buSzPct val="100000"/>
              <a:buChar char="•"/>
            </a:pPr>
            <a:r>
              <a:rPr lang="en-US" sz="1000" dirty="0">
                <a:solidFill>
                  <a:srgbClr val="1E293B"/>
                </a:solidFill>
              </a:rPr>
              <a:t>Naive Bayes — MultinomialNB, alpha=0.1</a:t>
            </a:r>
            <a:endParaRPr lang="en-US" sz="1000" dirty="0"/>
          </a:p>
          <a:p>
            <a:pPr marL="342900" indent="-342900">
              <a:spcAft>
                <a:spcPts val="400"/>
              </a:spcAft>
              <a:buSzPct val="100000"/>
              <a:buChar char="•"/>
            </a:pPr>
            <a:r>
              <a:rPr lang="en-US" sz="1000" dirty="0">
                <a:solidFill>
                  <a:srgbClr val="1E293B"/>
                </a:solidFill>
              </a:rPr>
              <a:t>Avantage : &lt;1s d'entraînement, interprétable</a:t>
            </a:r>
            <a:endParaRPr lang="en-US" sz="1000" dirty="0"/>
          </a:p>
          <a:p>
            <a:pPr marL="342900" indent="-342900">
              <a:spcAft>
                <a:spcPts val="400"/>
              </a:spcAft>
              <a:buSzPct val="100000"/>
              <a:buChar char="•"/>
            </a:pPr>
            <a:r>
              <a:rPr lang="en-US" sz="1000" dirty="0">
                <a:solidFill>
                  <a:srgbClr val="1E293B"/>
                </a:solidFill>
              </a:rPr>
              <a:t>Limite : ignore l'ordre &amp; le contexte</a:t>
            </a:r>
            <a:endParaRPr lang="en-US" sz="1000" dirty="0"/>
          </a:p>
        </p:txBody>
      </p:sp>
      <p:sp>
        <p:nvSpPr>
          <p:cNvPr id="11" name="Shape 9"/>
          <p:cNvSpPr/>
          <p:nvPr/>
        </p:nvSpPr>
        <p:spPr>
          <a:xfrm>
            <a:off x="3227832" y="777240"/>
            <a:ext cx="2834640" cy="438912"/>
          </a:xfrm>
          <a:prstGeom prst="rect">
            <a:avLst/>
          </a:prstGeom>
          <a:solidFill>
            <a:srgbClr val="154360"/>
          </a:solidFill>
          <a:ln w="12700">
            <a:solidFill>
              <a:srgbClr val="154360"/>
            </a:solidFill>
            <a:prstDash val="solid"/>
          </a:ln>
        </p:spPr>
      </p:sp>
      <p:sp>
        <p:nvSpPr>
          <p:cNvPr id="12" name="Text 10"/>
          <p:cNvSpPr/>
          <p:nvPr/>
        </p:nvSpPr>
        <p:spPr>
          <a:xfrm>
            <a:off x="3227832" y="777240"/>
            <a:ext cx="2834640" cy="438912"/>
          </a:xfrm>
          <a:prstGeom prst="rect">
            <a:avLst/>
          </a:prstGeom>
          <a:noFill/>
          <a:ln/>
        </p:spPr>
        <p:txBody>
          <a:bodyPr wrap="square" lIns="0" tIns="0" rIns="0" bIns="0" rtlCol="0" anchor="ctr"/>
          <a:lstStyle/>
          <a:p>
            <a:pPr algn="ctr" indent="0" marL="0">
              <a:buNone/>
            </a:pPr>
            <a:r>
              <a:rPr lang="en-US" sz="1200" b="1" dirty="0">
                <a:solidFill>
                  <a:srgbClr val="FFFFFF"/>
                </a:solidFill>
              </a:rPr>
              <a:t>2. Deep Learning</a:t>
            </a:r>
            <a:endParaRPr lang="en-US" sz="1200" dirty="0"/>
          </a:p>
        </p:txBody>
      </p:sp>
      <p:sp>
        <p:nvSpPr>
          <p:cNvPr id="13" name="Shape 11"/>
          <p:cNvSpPr/>
          <p:nvPr/>
        </p:nvSpPr>
        <p:spPr>
          <a:xfrm>
            <a:off x="3227832" y="1216152"/>
            <a:ext cx="2834640" cy="3538728"/>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14" name="Text 12"/>
          <p:cNvSpPr/>
          <p:nvPr/>
        </p:nvSpPr>
        <p:spPr>
          <a:xfrm>
            <a:off x="3319272" y="1325880"/>
            <a:ext cx="2651760" cy="329184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1E293B"/>
                </a:solidFill>
              </a:rPr>
              <a:t>Embedding 64d (15K vocab) → BiLSTM 2 couches (128 unités) → Dense → Softmax</a:t>
            </a:r>
            <a:endParaRPr lang="en-US" sz="1000" dirty="0"/>
          </a:p>
          <a:p>
            <a:pPr marL="342900" indent="-342900">
              <a:spcAft>
                <a:spcPts val="400"/>
              </a:spcAft>
              <a:buSzPct val="100000"/>
              <a:buChar char="•"/>
            </a:pPr>
            <a:r>
              <a:rPr lang="en-US" sz="1000" dirty="0">
                <a:solidFill>
                  <a:srgbClr val="1E293B"/>
                </a:solidFill>
              </a:rPr>
              <a:t>20 epochs, batch=32, Adam, early stopping</a:t>
            </a:r>
            <a:endParaRPr lang="en-US" sz="1000" dirty="0"/>
          </a:p>
          <a:p>
            <a:pPr marL="342900" indent="-342900">
              <a:spcAft>
                <a:spcPts val="400"/>
              </a:spcAft>
              <a:buSzPct val="100000"/>
              <a:buChar char="•"/>
            </a:pPr>
            <a:r>
              <a:rPr lang="en-US" sz="1000" dirty="0">
                <a:solidFill>
                  <a:srgbClr val="1E293B"/>
                </a:solidFill>
              </a:rPr>
              <a:t>~40s sur GPU</a:t>
            </a:r>
            <a:endParaRPr lang="en-US" sz="1000" dirty="0"/>
          </a:p>
          <a:p>
            <a:pPr marL="342900" indent="-342900">
              <a:spcAft>
                <a:spcPts val="400"/>
              </a:spcAft>
              <a:buSzPct val="100000"/>
              <a:buChar char="•"/>
            </a:pPr>
            <a:r>
              <a:rPr lang="en-US" sz="1000" dirty="0">
                <a:solidFill>
                  <a:srgbClr val="1E293B"/>
                </a:solidFill>
              </a:rPr>
              <a:t>Avantage : capture l'ordre séquentiel</a:t>
            </a:r>
            <a:endParaRPr lang="en-US" sz="1000" dirty="0"/>
          </a:p>
          <a:p>
            <a:pPr marL="342900" indent="-342900">
              <a:spcAft>
                <a:spcPts val="400"/>
              </a:spcAft>
              <a:buSzPct val="100000"/>
              <a:buChar char="•"/>
            </a:pPr>
            <a:r>
              <a:rPr lang="en-US" sz="1000" dirty="0">
                <a:solidFill>
                  <a:srgbClr val="1E293B"/>
                </a:solidFill>
              </a:rPr>
              <a:t>Limite : 0% recall sur «negative» sans pré-entraînement — GPU ne compense pas le manque de données</a:t>
            </a:r>
            <a:endParaRPr lang="en-US" sz="1000" dirty="0"/>
          </a:p>
        </p:txBody>
      </p:sp>
      <p:sp>
        <p:nvSpPr>
          <p:cNvPr id="15" name="Shape 13"/>
          <p:cNvSpPr/>
          <p:nvPr/>
        </p:nvSpPr>
        <p:spPr>
          <a:xfrm>
            <a:off x="6181344" y="777240"/>
            <a:ext cx="2834640" cy="438912"/>
          </a:xfrm>
          <a:prstGeom prst="rect">
            <a:avLst/>
          </a:prstGeom>
          <a:solidFill>
            <a:srgbClr val="003D79"/>
          </a:solidFill>
          <a:ln w="12700">
            <a:solidFill>
              <a:srgbClr val="003D79"/>
            </a:solidFill>
            <a:prstDash val="solid"/>
          </a:ln>
        </p:spPr>
      </p:sp>
      <p:sp>
        <p:nvSpPr>
          <p:cNvPr id="16" name="Text 14"/>
          <p:cNvSpPr/>
          <p:nvPr/>
        </p:nvSpPr>
        <p:spPr>
          <a:xfrm>
            <a:off x="6181344" y="777240"/>
            <a:ext cx="2834640" cy="438912"/>
          </a:xfrm>
          <a:prstGeom prst="rect">
            <a:avLst/>
          </a:prstGeom>
          <a:noFill/>
          <a:ln/>
        </p:spPr>
        <p:txBody>
          <a:bodyPr wrap="square" lIns="0" tIns="0" rIns="0" bIns="0" rtlCol="0" anchor="ctr"/>
          <a:lstStyle/>
          <a:p>
            <a:pPr algn="ctr" indent="0" marL="0">
              <a:buNone/>
            </a:pPr>
            <a:r>
              <a:rPr lang="en-US" sz="1200" b="1" dirty="0">
                <a:solidFill>
                  <a:srgbClr val="FFFFFF"/>
                </a:solidFill>
              </a:rPr>
              <a:t>3. Transformers</a:t>
            </a:r>
            <a:endParaRPr lang="en-US" sz="1200" dirty="0"/>
          </a:p>
        </p:txBody>
      </p:sp>
      <p:sp>
        <p:nvSpPr>
          <p:cNvPr id="17" name="Shape 15"/>
          <p:cNvSpPr/>
          <p:nvPr/>
        </p:nvSpPr>
        <p:spPr>
          <a:xfrm>
            <a:off x="6181344" y="1216152"/>
            <a:ext cx="2834640" cy="3538728"/>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18" name="Text 16"/>
          <p:cNvSpPr/>
          <p:nvPr/>
        </p:nvSpPr>
        <p:spPr>
          <a:xfrm>
            <a:off x="6272784" y="1325880"/>
            <a:ext cx="2651760" cy="329184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1E293B"/>
                </a:solidFill>
              </a:rPr>
              <a:t>Principe : pré-entraînement massif + fine-tuning</a:t>
            </a:r>
            <a:endParaRPr lang="en-US" sz="1000" dirty="0"/>
          </a:p>
          <a:p>
            <a:pPr marL="342900" indent="-342900">
              <a:spcAft>
                <a:spcPts val="400"/>
              </a:spcAft>
              <a:buSzPct val="100000"/>
              <a:buChar char="•"/>
            </a:pPr>
            <a:r>
              <a:rPr lang="en-US" sz="1000" dirty="0">
                <a:solidFill>
                  <a:srgbClr val="1E293B"/>
                </a:solidFill>
              </a:rPr>
              <a:t>BERT base-uncased (110M params) — BookCorpus + Wikipedia</a:t>
            </a:r>
            <a:endParaRPr lang="en-US" sz="1000" dirty="0"/>
          </a:p>
          <a:p>
            <a:pPr marL="342900" indent="-342900">
              <a:spcAft>
                <a:spcPts val="400"/>
              </a:spcAft>
              <a:buSzPct val="100000"/>
              <a:buChar char="•"/>
            </a:pPr>
            <a:r>
              <a:rPr lang="en-US" sz="1000" dirty="0">
                <a:solidFill>
                  <a:srgbClr val="1E293B"/>
                </a:solidFill>
              </a:rPr>
              <a:t>DistilBERT (66M params) — 40% plus léger</a:t>
            </a:r>
            <a:endParaRPr lang="en-US" sz="1000" dirty="0"/>
          </a:p>
          <a:p>
            <a:pPr marL="342900" indent="-342900">
              <a:spcAft>
                <a:spcPts val="400"/>
              </a:spcAft>
              <a:buSzPct val="100000"/>
              <a:buChar char="•"/>
            </a:pPr>
            <a:r>
              <a:rPr lang="en-US" sz="1000" dirty="0">
                <a:solidFill>
                  <a:srgbClr val="1E293B"/>
                </a:solidFill>
              </a:rPr>
              <a:t>FinBERT (110M) — pré-entraîné sur corpus financier</a:t>
            </a:r>
            <a:endParaRPr lang="en-US" sz="1000" dirty="0"/>
          </a:p>
          <a:p>
            <a:pPr marL="342900" indent="-342900">
              <a:spcAft>
                <a:spcPts val="400"/>
              </a:spcAft>
              <a:buSzPct val="100000"/>
              <a:buChar char="•"/>
            </a:pPr>
            <a:r>
              <a:rPr lang="en-US" sz="1000" dirty="0">
                <a:solidFill>
                  <a:srgbClr val="1E293B"/>
                </a:solidFill>
              </a:rPr>
              <a:t>Fine-tuning : 5 epochs, lr=2e-5, early stopping</a:t>
            </a:r>
            <a:endParaRPr lang="en-US" sz="1000" dirty="0"/>
          </a:p>
        </p:txBody>
      </p:sp>
      <p:sp>
        <p:nvSpPr>
          <p:cNvPr id="19" name="Shape 17"/>
          <p:cNvSpPr/>
          <p:nvPr/>
        </p:nvSpPr>
        <p:spPr>
          <a:xfrm>
            <a:off x="274320" y="4709160"/>
            <a:ext cx="8595360" cy="228600"/>
          </a:xfrm>
          <a:prstGeom prst="rect">
            <a:avLst/>
          </a:prstGeom>
          <a:solidFill>
            <a:srgbClr val="E8F0F8"/>
          </a:solidFill>
          <a:ln w="12700">
            <a:solidFill>
              <a:srgbClr val="003D79"/>
            </a:solidFill>
            <a:prstDash val="solid"/>
          </a:ln>
        </p:spPr>
      </p:sp>
      <p:sp>
        <p:nvSpPr>
          <p:cNvPr id="20" name="Text 18"/>
          <p:cNvSpPr/>
          <p:nvPr/>
        </p:nvSpPr>
        <p:spPr>
          <a:xfrm>
            <a:off x="365760" y="4718304"/>
            <a:ext cx="8412480" cy="210312"/>
          </a:xfrm>
          <a:prstGeom prst="rect">
            <a:avLst/>
          </a:prstGeom>
          <a:noFill/>
          <a:ln/>
        </p:spPr>
        <p:txBody>
          <a:bodyPr wrap="square" lIns="0" tIns="0" rIns="0" bIns="0" rtlCol="0" anchor="ctr"/>
          <a:lstStyle/>
          <a:p>
            <a:pPr algn="ctr" indent="0" marL="0">
              <a:buNone/>
            </a:pPr>
            <a:r>
              <a:rPr lang="en-US" sz="900" dirty="0">
                <a:solidFill>
                  <a:srgbClr val="003D79"/>
                </a:solidFill>
              </a:rPr>
              <a:t>GPU : NVIDIA RTX 5070 Laptop (8 Go VRAM) — optimisations mémoire requises pour le fine-tuning des Transformers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3D79"/>
          </a:solidFill>
          <a:ln w="12700">
            <a:solidFill>
              <a:srgbClr val="003D79"/>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indent="0" marL="0">
              <a:buNone/>
            </a:pPr>
            <a:r>
              <a:rPr lang="en-US" sz="2200" b="1" dirty="0">
                <a:solidFill>
                  <a:srgbClr val="FFFFFF"/>
                </a:solidFill>
              </a:rPr>
              <a:t>Implémentation — Architecture du projet</a:t>
            </a:r>
            <a:endParaRPr lang="en-US" sz="2200" dirty="0"/>
          </a:p>
        </p:txBody>
      </p:sp>
      <p:sp>
        <p:nvSpPr>
          <p:cNvPr id="4" name="Shape 2"/>
          <p:cNvSpPr/>
          <p:nvPr/>
        </p:nvSpPr>
        <p:spPr>
          <a:xfrm>
            <a:off x="0" y="0"/>
            <a:ext cx="73152" cy="685800"/>
          </a:xfrm>
          <a:prstGeom prst="rect">
            <a:avLst/>
          </a:prstGeom>
          <a:solidFill>
            <a:srgbClr val="C9A84C"/>
          </a:solidFill>
          <a:ln w="12700">
            <a:solidFill>
              <a:srgbClr val="C9A84C"/>
            </a:solidFill>
            <a:prstDash val="solid"/>
          </a:ln>
        </p:spPr>
      </p:sp>
      <p:sp>
        <p:nvSpPr>
          <p:cNvPr id="5" name="Shape 3"/>
          <p:cNvSpPr/>
          <p:nvPr/>
        </p:nvSpPr>
        <p:spPr>
          <a:xfrm>
            <a:off x="0" y="4983480"/>
            <a:ext cx="9144000" cy="160020"/>
          </a:xfrm>
          <a:prstGeom prst="rect">
            <a:avLst/>
          </a:prstGeom>
          <a:solidFill>
            <a:srgbClr val="003D79"/>
          </a:solidFill>
          <a:ln w="12700">
            <a:solidFill>
              <a:srgbClr val="003D79"/>
            </a:solidFill>
            <a:prstDash val="solid"/>
          </a:ln>
        </p:spPr>
      </p:sp>
      <p:sp>
        <p:nvSpPr>
          <p:cNvPr id="6" name="Text 4"/>
          <p:cNvSpPr/>
          <p:nvPr/>
        </p:nvSpPr>
        <p:spPr>
          <a:xfrm>
            <a:off x="182880" y="4983480"/>
            <a:ext cx="8778240" cy="160020"/>
          </a:xfrm>
          <a:prstGeom prst="rect">
            <a:avLst/>
          </a:prstGeom>
          <a:noFill/>
          <a:ln/>
        </p:spPr>
        <p:txBody>
          <a:bodyPr wrap="square" lIns="0" tIns="0" rIns="0" bIns="0" rtlCol="0" anchor="ctr"/>
          <a:lstStyle/>
          <a:p>
            <a:pPr indent="0" marL="0">
              <a:buNone/>
            </a:pPr>
            <a:r>
              <a:rPr lang="en-US" sz="800" dirty="0">
                <a:solidFill>
                  <a:srgbClr val="FFFFFF"/>
                </a:solidFill>
              </a:rPr>
              <a:t>Analyse de Sentiment Financier — Paris 1 Panthéon-Sorbonne — Avril 2026</a:t>
            </a:r>
            <a:endParaRPr lang="en-US" sz="800" dirty="0"/>
          </a:p>
        </p:txBody>
      </p:sp>
      <p:sp>
        <p:nvSpPr>
          <p:cNvPr id="7" name="Shape 5"/>
          <p:cNvSpPr/>
          <p:nvPr/>
        </p:nvSpPr>
        <p:spPr>
          <a:xfrm>
            <a:off x="320040" y="822960"/>
            <a:ext cx="4114800" cy="4023360"/>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320040" y="822960"/>
            <a:ext cx="4114800" cy="347472"/>
          </a:xfrm>
          <a:prstGeom prst="rect">
            <a:avLst/>
          </a:prstGeom>
          <a:solidFill>
            <a:srgbClr val="003D79"/>
          </a:solidFill>
          <a:ln w="12700">
            <a:solidFill>
              <a:srgbClr val="003D79"/>
            </a:solidFill>
            <a:prstDash val="solid"/>
          </a:ln>
        </p:spPr>
      </p:sp>
      <p:sp>
        <p:nvSpPr>
          <p:cNvPr id="9" name="Text 7"/>
          <p:cNvSpPr/>
          <p:nvPr/>
        </p:nvSpPr>
        <p:spPr>
          <a:xfrm>
            <a:off x="411480" y="822960"/>
            <a:ext cx="3931920" cy="347472"/>
          </a:xfrm>
          <a:prstGeom prst="rect">
            <a:avLst/>
          </a:prstGeom>
          <a:noFill/>
          <a:ln/>
        </p:spPr>
        <p:txBody>
          <a:bodyPr wrap="square" lIns="0" tIns="0" rIns="0" bIns="0" rtlCol="0" anchor="ctr"/>
          <a:lstStyle/>
          <a:p>
            <a:pPr indent="0" marL="0">
              <a:buNone/>
            </a:pPr>
            <a:r>
              <a:rPr lang="en-US" sz="1100" b="1" dirty="0">
                <a:solidFill>
                  <a:srgbClr val="FFFFFF"/>
                </a:solidFill>
              </a:rPr>
              <a:t>Modules src/</a:t>
            </a:r>
            <a:endParaRPr lang="en-US" sz="1100" dirty="0"/>
          </a:p>
        </p:txBody>
      </p:sp>
      <p:sp>
        <p:nvSpPr>
          <p:cNvPr id="10" name="Shape 8"/>
          <p:cNvSpPr/>
          <p:nvPr/>
        </p:nvSpPr>
        <p:spPr>
          <a:xfrm>
            <a:off x="411480" y="1261872"/>
            <a:ext cx="3931920" cy="685800"/>
          </a:xfrm>
          <a:prstGeom prst="rect">
            <a:avLst/>
          </a:prstGeom>
          <a:solidFill>
            <a:srgbClr val="E8F0F8"/>
          </a:solidFill>
          <a:ln w="12700">
            <a:solidFill>
              <a:srgbClr val="CBD5E1"/>
            </a:solidFill>
            <a:prstDash val="solid"/>
          </a:ln>
        </p:spPr>
      </p:sp>
      <p:sp>
        <p:nvSpPr>
          <p:cNvPr id="11" name="Text 9"/>
          <p:cNvSpPr/>
          <p:nvPr/>
        </p:nvSpPr>
        <p:spPr>
          <a:xfrm>
            <a:off x="548640" y="1307592"/>
            <a:ext cx="3749040" cy="292608"/>
          </a:xfrm>
          <a:prstGeom prst="rect">
            <a:avLst/>
          </a:prstGeom>
          <a:noFill/>
          <a:ln/>
        </p:spPr>
        <p:txBody>
          <a:bodyPr wrap="square" lIns="0" tIns="0" rIns="0" bIns="0" rtlCol="0" anchor="ctr"/>
          <a:lstStyle/>
          <a:p>
            <a:pPr indent="0" marL="0">
              <a:buNone/>
            </a:pPr>
            <a:r>
              <a:rPr lang="en-US" sz="1100" b="1" dirty="0">
                <a:solidFill>
                  <a:srgbClr val="003D79"/>
                </a:solidFill>
                <a:latin typeface="Consolas" pitchFamily="34" charset="0"/>
                <a:ea typeface="Consolas" pitchFamily="34" charset="-122"/>
                <a:cs typeface="Consolas" pitchFamily="34" charset="-120"/>
              </a:rPr>
              <a:t>config.py</a:t>
            </a:r>
            <a:endParaRPr lang="en-US" sz="1100" dirty="0"/>
          </a:p>
        </p:txBody>
      </p:sp>
      <p:sp>
        <p:nvSpPr>
          <p:cNvPr id="12" name="Text 10"/>
          <p:cNvSpPr/>
          <p:nvPr/>
        </p:nvSpPr>
        <p:spPr>
          <a:xfrm>
            <a:off x="548640" y="1591056"/>
            <a:ext cx="3749040" cy="292608"/>
          </a:xfrm>
          <a:prstGeom prst="rect">
            <a:avLst/>
          </a:prstGeom>
          <a:noFill/>
          <a:ln/>
        </p:spPr>
        <p:txBody>
          <a:bodyPr wrap="square" lIns="0" tIns="0" rIns="0" bIns="0" rtlCol="0" anchor="ctr"/>
          <a:lstStyle/>
          <a:p>
            <a:pPr indent="0" marL="0">
              <a:buNone/>
            </a:pPr>
            <a:r>
              <a:rPr lang="en-US" sz="1000" dirty="0">
                <a:solidFill>
                  <a:srgbClr val="64748B"/>
                </a:solidFill>
              </a:rPr>
              <a:t>chemins, hyperparamètres, registre des modèles</a:t>
            </a:r>
            <a:endParaRPr lang="en-US" sz="1000" dirty="0"/>
          </a:p>
        </p:txBody>
      </p:sp>
      <p:sp>
        <p:nvSpPr>
          <p:cNvPr id="13" name="Shape 11"/>
          <p:cNvSpPr/>
          <p:nvPr/>
        </p:nvSpPr>
        <p:spPr>
          <a:xfrm>
            <a:off x="411480" y="2066544"/>
            <a:ext cx="3931920" cy="685800"/>
          </a:xfrm>
          <a:prstGeom prst="rect">
            <a:avLst/>
          </a:prstGeom>
          <a:solidFill>
            <a:srgbClr val="E8F0F8"/>
          </a:solidFill>
          <a:ln w="12700">
            <a:solidFill>
              <a:srgbClr val="CBD5E1"/>
            </a:solidFill>
            <a:prstDash val="solid"/>
          </a:ln>
        </p:spPr>
      </p:sp>
      <p:sp>
        <p:nvSpPr>
          <p:cNvPr id="14" name="Text 12"/>
          <p:cNvSpPr/>
          <p:nvPr/>
        </p:nvSpPr>
        <p:spPr>
          <a:xfrm>
            <a:off x="548640" y="2112264"/>
            <a:ext cx="3749040" cy="292608"/>
          </a:xfrm>
          <a:prstGeom prst="rect">
            <a:avLst/>
          </a:prstGeom>
          <a:noFill/>
          <a:ln/>
        </p:spPr>
        <p:txBody>
          <a:bodyPr wrap="square" lIns="0" tIns="0" rIns="0" bIns="0" rtlCol="0" anchor="ctr"/>
          <a:lstStyle/>
          <a:p>
            <a:pPr indent="0" marL="0">
              <a:buNone/>
            </a:pPr>
            <a:r>
              <a:rPr lang="en-US" sz="1100" b="1" dirty="0">
                <a:solidFill>
                  <a:srgbClr val="003D79"/>
                </a:solidFill>
                <a:latin typeface="Consolas" pitchFamily="34" charset="0"/>
                <a:ea typeface="Consolas" pitchFamily="34" charset="-122"/>
                <a:cs typeface="Consolas" pitchFamily="34" charset="-120"/>
              </a:rPr>
              <a:t>data.py</a:t>
            </a:r>
            <a:endParaRPr lang="en-US" sz="1100" dirty="0"/>
          </a:p>
        </p:txBody>
      </p:sp>
      <p:sp>
        <p:nvSpPr>
          <p:cNvPr id="15" name="Text 13"/>
          <p:cNvSpPr/>
          <p:nvPr/>
        </p:nvSpPr>
        <p:spPr>
          <a:xfrm>
            <a:off x="548640" y="2395728"/>
            <a:ext cx="3749040" cy="292608"/>
          </a:xfrm>
          <a:prstGeom prst="rect">
            <a:avLst/>
          </a:prstGeom>
          <a:noFill/>
          <a:ln/>
        </p:spPr>
        <p:txBody>
          <a:bodyPr wrap="square" lIns="0" tIns="0" rIns="0" bIns="0" rtlCol="0" anchor="ctr"/>
          <a:lstStyle/>
          <a:p>
            <a:pPr indent="0" marL="0">
              <a:buNone/>
            </a:pPr>
            <a:r>
              <a:rPr lang="en-US" sz="1000" dirty="0">
                <a:solidFill>
                  <a:srgbClr val="64748B"/>
                </a:solidFill>
              </a:rPr>
              <a:t>chargement, nettoyage, split stratifié</a:t>
            </a:r>
            <a:endParaRPr lang="en-US" sz="1000" dirty="0"/>
          </a:p>
        </p:txBody>
      </p:sp>
      <p:sp>
        <p:nvSpPr>
          <p:cNvPr id="16" name="Shape 14"/>
          <p:cNvSpPr/>
          <p:nvPr/>
        </p:nvSpPr>
        <p:spPr>
          <a:xfrm>
            <a:off x="411480" y="2871216"/>
            <a:ext cx="3931920" cy="685800"/>
          </a:xfrm>
          <a:prstGeom prst="rect">
            <a:avLst/>
          </a:prstGeom>
          <a:solidFill>
            <a:srgbClr val="E8F0F8"/>
          </a:solidFill>
          <a:ln w="12700">
            <a:solidFill>
              <a:srgbClr val="CBD5E1"/>
            </a:solidFill>
            <a:prstDash val="solid"/>
          </a:ln>
        </p:spPr>
      </p:sp>
      <p:sp>
        <p:nvSpPr>
          <p:cNvPr id="17" name="Text 15"/>
          <p:cNvSpPr/>
          <p:nvPr/>
        </p:nvSpPr>
        <p:spPr>
          <a:xfrm>
            <a:off x="548640" y="2916936"/>
            <a:ext cx="3749040" cy="292608"/>
          </a:xfrm>
          <a:prstGeom prst="rect">
            <a:avLst/>
          </a:prstGeom>
          <a:noFill/>
          <a:ln/>
        </p:spPr>
        <p:txBody>
          <a:bodyPr wrap="square" lIns="0" tIns="0" rIns="0" bIns="0" rtlCol="0" anchor="ctr"/>
          <a:lstStyle/>
          <a:p>
            <a:pPr indent="0" marL="0">
              <a:buNone/>
            </a:pPr>
            <a:r>
              <a:rPr lang="en-US" sz="1100" b="1" dirty="0">
                <a:solidFill>
                  <a:srgbClr val="003D79"/>
                </a:solidFill>
                <a:latin typeface="Consolas" pitchFamily="34" charset="0"/>
                <a:ea typeface="Consolas" pitchFamily="34" charset="-122"/>
                <a:cs typeface="Consolas" pitchFamily="34" charset="-120"/>
              </a:rPr>
              <a:t>metrics.py</a:t>
            </a:r>
            <a:endParaRPr lang="en-US" sz="1100" dirty="0"/>
          </a:p>
        </p:txBody>
      </p:sp>
      <p:sp>
        <p:nvSpPr>
          <p:cNvPr id="18" name="Text 16"/>
          <p:cNvSpPr/>
          <p:nvPr/>
        </p:nvSpPr>
        <p:spPr>
          <a:xfrm>
            <a:off x="548640" y="3200400"/>
            <a:ext cx="3749040" cy="292608"/>
          </a:xfrm>
          <a:prstGeom prst="rect">
            <a:avLst/>
          </a:prstGeom>
          <a:noFill/>
          <a:ln/>
        </p:spPr>
        <p:txBody>
          <a:bodyPr wrap="square" lIns="0" tIns="0" rIns="0" bIns="0" rtlCol="0" anchor="ctr"/>
          <a:lstStyle/>
          <a:p>
            <a:pPr indent="0" marL="0">
              <a:buNone/>
            </a:pPr>
            <a:r>
              <a:rPr lang="en-US" sz="1000" dirty="0">
                <a:solidFill>
                  <a:srgbClr val="64748B"/>
                </a:solidFill>
              </a:rPr>
              <a:t>accuracy, macro-F1, weighted-F1</a:t>
            </a:r>
            <a:endParaRPr lang="en-US" sz="1000" dirty="0"/>
          </a:p>
        </p:txBody>
      </p:sp>
      <p:sp>
        <p:nvSpPr>
          <p:cNvPr id="19" name="Shape 17"/>
          <p:cNvSpPr/>
          <p:nvPr/>
        </p:nvSpPr>
        <p:spPr>
          <a:xfrm>
            <a:off x="411480" y="3675888"/>
            <a:ext cx="3931920" cy="685800"/>
          </a:xfrm>
          <a:prstGeom prst="rect">
            <a:avLst/>
          </a:prstGeom>
          <a:solidFill>
            <a:srgbClr val="E8F0F8"/>
          </a:solidFill>
          <a:ln w="12700">
            <a:solidFill>
              <a:srgbClr val="CBD5E1"/>
            </a:solidFill>
            <a:prstDash val="solid"/>
          </a:ln>
        </p:spPr>
      </p:sp>
      <p:sp>
        <p:nvSpPr>
          <p:cNvPr id="20" name="Text 18"/>
          <p:cNvSpPr/>
          <p:nvPr/>
        </p:nvSpPr>
        <p:spPr>
          <a:xfrm>
            <a:off x="548640" y="3721608"/>
            <a:ext cx="3749040" cy="292608"/>
          </a:xfrm>
          <a:prstGeom prst="rect">
            <a:avLst/>
          </a:prstGeom>
          <a:noFill/>
          <a:ln/>
        </p:spPr>
        <p:txBody>
          <a:bodyPr wrap="square" lIns="0" tIns="0" rIns="0" bIns="0" rtlCol="0" anchor="ctr"/>
          <a:lstStyle/>
          <a:p>
            <a:pPr indent="0" marL="0">
              <a:buNone/>
            </a:pPr>
            <a:r>
              <a:rPr lang="en-US" sz="1100" b="1" dirty="0">
                <a:solidFill>
                  <a:srgbClr val="003D79"/>
                </a:solidFill>
                <a:latin typeface="Consolas" pitchFamily="34" charset="0"/>
                <a:ea typeface="Consolas" pitchFamily="34" charset="-122"/>
                <a:cs typeface="Consolas" pitchFamily="34" charset="-120"/>
              </a:rPr>
              <a:t>inference.py</a:t>
            </a:r>
            <a:endParaRPr lang="en-US" sz="1100" dirty="0"/>
          </a:p>
        </p:txBody>
      </p:sp>
      <p:sp>
        <p:nvSpPr>
          <p:cNvPr id="21" name="Text 19"/>
          <p:cNvSpPr/>
          <p:nvPr/>
        </p:nvSpPr>
        <p:spPr>
          <a:xfrm>
            <a:off x="548640" y="4005072"/>
            <a:ext cx="3749040" cy="292608"/>
          </a:xfrm>
          <a:prstGeom prst="rect">
            <a:avLst/>
          </a:prstGeom>
          <a:noFill/>
          <a:ln/>
        </p:spPr>
        <p:txBody>
          <a:bodyPr wrap="square" lIns="0" tIns="0" rIns="0" bIns="0" rtlCol="0" anchor="ctr"/>
          <a:lstStyle/>
          <a:p>
            <a:pPr indent="0" marL="0">
              <a:buNone/>
            </a:pPr>
            <a:r>
              <a:rPr lang="en-US" sz="1000" dirty="0">
                <a:solidFill>
                  <a:srgbClr val="64748B"/>
                </a:solidFill>
              </a:rPr>
              <a:t>chargement modèle, pipeline HuggingFace, prédiction</a:t>
            </a:r>
            <a:endParaRPr lang="en-US" sz="1000" dirty="0"/>
          </a:p>
        </p:txBody>
      </p:sp>
      <p:sp>
        <p:nvSpPr>
          <p:cNvPr id="22" name="Shape 20"/>
          <p:cNvSpPr/>
          <p:nvPr/>
        </p:nvSpPr>
        <p:spPr>
          <a:xfrm>
            <a:off x="4617720" y="822960"/>
            <a:ext cx="4206240" cy="4023360"/>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23" name="Shape 21"/>
          <p:cNvSpPr/>
          <p:nvPr/>
        </p:nvSpPr>
        <p:spPr>
          <a:xfrm>
            <a:off x="4617720" y="822960"/>
            <a:ext cx="4206240" cy="347472"/>
          </a:xfrm>
          <a:prstGeom prst="rect">
            <a:avLst/>
          </a:prstGeom>
          <a:solidFill>
            <a:srgbClr val="003D79"/>
          </a:solidFill>
          <a:ln w="12700">
            <a:solidFill>
              <a:srgbClr val="003D79"/>
            </a:solidFill>
            <a:prstDash val="solid"/>
          </a:ln>
        </p:spPr>
      </p:sp>
      <p:sp>
        <p:nvSpPr>
          <p:cNvPr id="24" name="Text 22"/>
          <p:cNvSpPr/>
          <p:nvPr/>
        </p:nvSpPr>
        <p:spPr>
          <a:xfrm>
            <a:off x="4709160" y="822960"/>
            <a:ext cx="4023360" cy="347472"/>
          </a:xfrm>
          <a:prstGeom prst="rect">
            <a:avLst/>
          </a:prstGeom>
          <a:noFill/>
          <a:ln/>
        </p:spPr>
        <p:txBody>
          <a:bodyPr wrap="square" lIns="0" tIns="0" rIns="0" bIns="0" rtlCol="0" anchor="ctr"/>
          <a:lstStyle/>
          <a:p>
            <a:pPr indent="0" marL="0">
              <a:buNone/>
            </a:pPr>
            <a:r>
              <a:rPr lang="en-US" sz="1100" b="1" dirty="0">
                <a:solidFill>
                  <a:srgbClr val="FFFFFF"/>
                </a:solidFill>
              </a:rPr>
              <a:t>Scripts d'entraînement</a:t>
            </a:r>
            <a:endParaRPr lang="en-US" sz="1100" dirty="0"/>
          </a:p>
        </p:txBody>
      </p:sp>
      <p:sp>
        <p:nvSpPr>
          <p:cNvPr id="25" name="Shape 23"/>
          <p:cNvSpPr/>
          <p:nvPr/>
        </p:nvSpPr>
        <p:spPr>
          <a:xfrm>
            <a:off x="4709160" y="1261872"/>
            <a:ext cx="4023360" cy="685800"/>
          </a:xfrm>
          <a:prstGeom prst="rect">
            <a:avLst/>
          </a:prstGeom>
          <a:solidFill>
            <a:srgbClr val="E8F0F8"/>
          </a:solidFill>
          <a:ln w="12700">
            <a:solidFill>
              <a:srgbClr val="CBD5E1"/>
            </a:solidFill>
            <a:prstDash val="solid"/>
          </a:ln>
        </p:spPr>
      </p:sp>
      <p:sp>
        <p:nvSpPr>
          <p:cNvPr id="26" name="Text 24"/>
          <p:cNvSpPr/>
          <p:nvPr/>
        </p:nvSpPr>
        <p:spPr>
          <a:xfrm>
            <a:off x="4846320" y="1307592"/>
            <a:ext cx="3840480" cy="292608"/>
          </a:xfrm>
          <a:prstGeom prst="rect">
            <a:avLst/>
          </a:prstGeom>
          <a:noFill/>
          <a:ln/>
        </p:spPr>
        <p:txBody>
          <a:bodyPr wrap="square" lIns="0" tIns="0" rIns="0" bIns="0" rtlCol="0" anchor="ctr"/>
          <a:lstStyle/>
          <a:p>
            <a:pPr indent="0" marL="0">
              <a:buNone/>
            </a:pPr>
            <a:r>
              <a:rPr lang="en-US" sz="1050" b="1" dirty="0">
                <a:solidFill>
                  <a:srgbClr val="003D79"/>
                </a:solidFill>
                <a:latin typeface="Consolas" pitchFamily="34" charset="0"/>
                <a:ea typeface="Consolas" pitchFamily="34" charset="-122"/>
                <a:cs typeface="Consolas" pitchFamily="34" charset="-120"/>
              </a:rPr>
              <a:t>train_baselines.py</a:t>
            </a:r>
            <a:endParaRPr lang="en-US" sz="1050" dirty="0"/>
          </a:p>
        </p:txBody>
      </p:sp>
      <p:sp>
        <p:nvSpPr>
          <p:cNvPr id="27" name="Text 25"/>
          <p:cNvSpPr/>
          <p:nvPr/>
        </p:nvSpPr>
        <p:spPr>
          <a:xfrm>
            <a:off x="4846320" y="1591056"/>
            <a:ext cx="3840480" cy="292608"/>
          </a:xfrm>
          <a:prstGeom prst="rect">
            <a:avLst/>
          </a:prstGeom>
          <a:noFill/>
          <a:ln/>
        </p:spPr>
        <p:txBody>
          <a:bodyPr wrap="square" lIns="0" tIns="0" rIns="0" bIns="0" rtlCol="0" anchor="ctr"/>
          <a:lstStyle/>
          <a:p>
            <a:pPr indent="0" marL="0">
              <a:buNone/>
            </a:pPr>
            <a:r>
              <a:rPr lang="en-US" sz="1000" dirty="0">
                <a:solidFill>
                  <a:srgbClr val="64748B"/>
                </a:solidFill>
              </a:rPr>
              <a:t>TF-IDF + LogReg / Naive Bayes</a:t>
            </a:r>
            <a:endParaRPr lang="en-US" sz="1000" dirty="0"/>
          </a:p>
        </p:txBody>
      </p:sp>
      <p:sp>
        <p:nvSpPr>
          <p:cNvPr id="28" name="Shape 26"/>
          <p:cNvSpPr/>
          <p:nvPr/>
        </p:nvSpPr>
        <p:spPr>
          <a:xfrm>
            <a:off x="4709160" y="2066544"/>
            <a:ext cx="4023360" cy="685800"/>
          </a:xfrm>
          <a:prstGeom prst="rect">
            <a:avLst/>
          </a:prstGeom>
          <a:solidFill>
            <a:srgbClr val="E8F0F8"/>
          </a:solidFill>
          <a:ln w="12700">
            <a:solidFill>
              <a:srgbClr val="CBD5E1"/>
            </a:solidFill>
            <a:prstDash val="solid"/>
          </a:ln>
        </p:spPr>
      </p:sp>
      <p:sp>
        <p:nvSpPr>
          <p:cNvPr id="29" name="Text 27"/>
          <p:cNvSpPr/>
          <p:nvPr/>
        </p:nvSpPr>
        <p:spPr>
          <a:xfrm>
            <a:off x="4846320" y="2112264"/>
            <a:ext cx="3840480" cy="292608"/>
          </a:xfrm>
          <a:prstGeom prst="rect">
            <a:avLst/>
          </a:prstGeom>
          <a:noFill/>
          <a:ln/>
        </p:spPr>
        <p:txBody>
          <a:bodyPr wrap="square" lIns="0" tIns="0" rIns="0" bIns="0" rtlCol="0" anchor="ctr"/>
          <a:lstStyle/>
          <a:p>
            <a:pPr indent="0" marL="0">
              <a:buNone/>
            </a:pPr>
            <a:r>
              <a:rPr lang="en-US" sz="1050" b="1" dirty="0">
                <a:solidFill>
                  <a:srgbClr val="003D79"/>
                </a:solidFill>
                <a:latin typeface="Consolas" pitchFamily="34" charset="0"/>
                <a:ea typeface="Consolas" pitchFamily="34" charset="-122"/>
                <a:cs typeface="Consolas" pitchFamily="34" charset="-120"/>
              </a:rPr>
              <a:t>train_lstm.py</a:t>
            </a:r>
            <a:endParaRPr lang="en-US" sz="1050" dirty="0"/>
          </a:p>
        </p:txBody>
      </p:sp>
      <p:sp>
        <p:nvSpPr>
          <p:cNvPr id="30" name="Text 28"/>
          <p:cNvSpPr/>
          <p:nvPr/>
        </p:nvSpPr>
        <p:spPr>
          <a:xfrm>
            <a:off x="4846320" y="2395728"/>
            <a:ext cx="3840480" cy="292608"/>
          </a:xfrm>
          <a:prstGeom prst="rect">
            <a:avLst/>
          </a:prstGeom>
          <a:noFill/>
          <a:ln/>
        </p:spPr>
        <p:txBody>
          <a:bodyPr wrap="square" lIns="0" tIns="0" rIns="0" bIns="0" rtlCol="0" anchor="ctr"/>
          <a:lstStyle/>
          <a:p>
            <a:pPr indent="0" marL="0">
              <a:buNone/>
            </a:pPr>
            <a:r>
              <a:rPr lang="en-US" sz="1000" dirty="0">
                <a:solidFill>
                  <a:srgbClr val="64748B"/>
                </a:solidFill>
              </a:rPr>
              <a:t>BiLSTM via TensorFlow / Keras</a:t>
            </a:r>
            <a:endParaRPr lang="en-US" sz="1000" dirty="0"/>
          </a:p>
        </p:txBody>
      </p:sp>
      <p:sp>
        <p:nvSpPr>
          <p:cNvPr id="31" name="Shape 29"/>
          <p:cNvSpPr/>
          <p:nvPr/>
        </p:nvSpPr>
        <p:spPr>
          <a:xfrm>
            <a:off x="4709160" y="2871216"/>
            <a:ext cx="4023360" cy="685800"/>
          </a:xfrm>
          <a:prstGeom prst="rect">
            <a:avLst/>
          </a:prstGeom>
          <a:solidFill>
            <a:srgbClr val="E8F0F8"/>
          </a:solidFill>
          <a:ln w="12700">
            <a:solidFill>
              <a:srgbClr val="CBD5E1"/>
            </a:solidFill>
            <a:prstDash val="solid"/>
          </a:ln>
        </p:spPr>
      </p:sp>
      <p:sp>
        <p:nvSpPr>
          <p:cNvPr id="32" name="Text 30"/>
          <p:cNvSpPr/>
          <p:nvPr/>
        </p:nvSpPr>
        <p:spPr>
          <a:xfrm>
            <a:off x="4846320" y="2916936"/>
            <a:ext cx="3840480" cy="292608"/>
          </a:xfrm>
          <a:prstGeom prst="rect">
            <a:avLst/>
          </a:prstGeom>
          <a:noFill/>
          <a:ln/>
        </p:spPr>
        <p:txBody>
          <a:bodyPr wrap="square" lIns="0" tIns="0" rIns="0" bIns="0" rtlCol="0" anchor="ctr"/>
          <a:lstStyle/>
          <a:p>
            <a:pPr indent="0" marL="0">
              <a:buNone/>
            </a:pPr>
            <a:r>
              <a:rPr lang="en-US" sz="1050" b="1" dirty="0">
                <a:solidFill>
                  <a:srgbClr val="003D79"/>
                </a:solidFill>
                <a:latin typeface="Consolas" pitchFamily="34" charset="0"/>
                <a:ea typeface="Consolas" pitchFamily="34" charset="-122"/>
                <a:cs typeface="Consolas" pitchFamily="34" charset="-120"/>
              </a:rPr>
              <a:t>train_transformer.py</a:t>
            </a:r>
            <a:endParaRPr lang="en-US" sz="1050" dirty="0"/>
          </a:p>
        </p:txBody>
      </p:sp>
      <p:sp>
        <p:nvSpPr>
          <p:cNvPr id="33" name="Text 31"/>
          <p:cNvSpPr/>
          <p:nvPr/>
        </p:nvSpPr>
        <p:spPr>
          <a:xfrm>
            <a:off x="4846320" y="3200400"/>
            <a:ext cx="3840480" cy="292608"/>
          </a:xfrm>
          <a:prstGeom prst="rect">
            <a:avLst/>
          </a:prstGeom>
          <a:noFill/>
          <a:ln/>
        </p:spPr>
        <p:txBody>
          <a:bodyPr wrap="square" lIns="0" tIns="0" rIns="0" bIns="0" rtlCol="0" anchor="ctr"/>
          <a:lstStyle/>
          <a:p>
            <a:pPr indent="0" marL="0">
              <a:buNone/>
            </a:pPr>
            <a:r>
              <a:rPr lang="en-US" sz="1000" dirty="0">
                <a:solidFill>
                  <a:srgbClr val="64748B"/>
                </a:solidFill>
              </a:rPr>
              <a:t>BERT / DistilBERT / FinBERT (HuggingFace)</a:t>
            </a:r>
            <a:endParaRPr lang="en-US" sz="1000" dirty="0"/>
          </a:p>
        </p:txBody>
      </p:sp>
      <p:sp>
        <p:nvSpPr>
          <p:cNvPr id="34" name="Shape 32"/>
          <p:cNvSpPr/>
          <p:nvPr/>
        </p:nvSpPr>
        <p:spPr>
          <a:xfrm>
            <a:off x="4709160" y="3675888"/>
            <a:ext cx="4023360" cy="685800"/>
          </a:xfrm>
          <a:prstGeom prst="rect">
            <a:avLst/>
          </a:prstGeom>
          <a:solidFill>
            <a:srgbClr val="E8F0F8"/>
          </a:solidFill>
          <a:ln w="12700">
            <a:solidFill>
              <a:srgbClr val="CBD5E1"/>
            </a:solidFill>
            <a:prstDash val="solid"/>
          </a:ln>
        </p:spPr>
      </p:sp>
      <p:sp>
        <p:nvSpPr>
          <p:cNvPr id="35" name="Text 33"/>
          <p:cNvSpPr/>
          <p:nvPr/>
        </p:nvSpPr>
        <p:spPr>
          <a:xfrm>
            <a:off x="4846320" y="3721608"/>
            <a:ext cx="3840480" cy="292608"/>
          </a:xfrm>
          <a:prstGeom prst="rect">
            <a:avLst/>
          </a:prstGeom>
          <a:noFill/>
          <a:ln/>
        </p:spPr>
        <p:txBody>
          <a:bodyPr wrap="square" lIns="0" tIns="0" rIns="0" bIns="0" rtlCol="0" anchor="ctr"/>
          <a:lstStyle/>
          <a:p>
            <a:pPr indent="0" marL="0">
              <a:buNone/>
            </a:pPr>
            <a:r>
              <a:rPr lang="en-US" sz="1050" b="1" dirty="0">
                <a:solidFill>
                  <a:srgbClr val="003D79"/>
                </a:solidFill>
                <a:latin typeface="Consolas" pitchFamily="34" charset="0"/>
                <a:ea typeface="Consolas" pitchFamily="34" charset="-122"/>
                <a:cs typeface="Consolas" pitchFamily="34" charset="-120"/>
              </a:rPr>
              <a:t>build_leaderboard.py</a:t>
            </a:r>
            <a:endParaRPr lang="en-US" sz="1050" dirty="0"/>
          </a:p>
        </p:txBody>
      </p:sp>
      <p:sp>
        <p:nvSpPr>
          <p:cNvPr id="36" name="Text 34"/>
          <p:cNvSpPr/>
          <p:nvPr/>
        </p:nvSpPr>
        <p:spPr>
          <a:xfrm>
            <a:off x="4846320" y="4005072"/>
            <a:ext cx="3840480" cy="292608"/>
          </a:xfrm>
          <a:prstGeom prst="rect">
            <a:avLst/>
          </a:prstGeom>
          <a:noFill/>
          <a:ln/>
        </p:spPr>
        <p:txBody>
          <a:bodyPr wrap="square" lIns="0" tIns="0" rIns="0" bIns="0" rtlCol="0" anchor="ctr"/>
          <a:lstStyle/>
          <a:p>
            <a:pPr indent="0" marL="0">
              <a:buNone/>
            </a:pPr>
            <a:r>
              <a:rPr lang="en-US" sz="1000" dirty="0">
                <a:solidFill>
                  <a:srgbClr val="64748B"/>
                </a:solidFill>
              </a:rPr>
              <a:t>Agrégation résultats → JSON / CSV / Markdown</a:t>
            </a:r>
            <a:endParaRPr lang="en-US" sz="1000" dirty="0"/>
          </a:p>
        </p:txBody>
      </p:sp>
      <p:sp>
        <p:nvSpPr>
          <p:cNvPr id="37" name="Shape 35"/>
          <p:cNvSpPr/>
          <p:nvPr/>
        </p:nvSpPr>
        <p:spPr>
          <a:xfrm>
            <a:off x="320040" y="4709160"/>
            <a:ext cx="8503920" cy="228600"/>
          </a:xfrm>
          <a:prstGeom prst="rect">
            <a:avLst/>
          </a:prstGeom>
          <a:solidFill>
            <a:srgbClr val="003D79"/>
          </a:solidFill>
          <a:ln w="12700">
            <a:solidFill>
              <a:srgbClr val="003D79"/>
            </a:solidFill>
            <a:prstDash val="solid"/>
          </a:ln>
        </p:spPr>
      </p:sp>
      <p:sp>
        <p:nvSpPr>
          <p:cNvPr id="38" name="Text 36"/>
          <p:cNvSpPr/>
          <p:nvPr/>
        </p:nvSpPr>
        <p:spPr>
          <a:xfrm>
            <a:off x="411480" y="4718304"/>
            <a:ext cx="8321040" cy="210312"/>
          </a:xfrm>
          <a:prstGeom prst="rect">
            <a:avLst/>
          </a:prstGeom>
          <a:noFill/>
          <a:ln/>
        </p:spPr>
        <p:txBody>
          <a:bodyPr wrap="square" lIns="0" tIns="0" rIns="0" bIns="0" rtlCol="0" anchor="ctr"/>
          <a:lstStyle/>
          <a:p>
            <a:pPr algn="ctr" indent="0" marL="0">
              <a:buNone/>
            </a:pPr>
            <a:r>
              <a:rPr lang="en-US" sz="900" dirty="0">
                <a:solidFill>
                  <a:srgbClr val="FFFFFF"/>
                </a:solidFill>
              </a:rPr>
              <a:t>Python 3.11 · uv · PyTorch + CUDA · HuggingFace Transformers · TensorFlow · Streamlit · LIME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3D79"/>
          </a:solidFill>
          <a:ln w="12700">
            <a:solidFill>
              <a:srgbClr val="003D79"/>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indent="0" marL="0">
              <a:buNone/>
            </a:pPr>
            <a:r>
              <a:rPr lang="en-US" sz="2200" b="1" dirty="0">
                <a:solidFill>
                  <a:srgbClr val="FFFFFF"/>
                </a:solidFill>
              </a:rPr>
              <a:t>Résultats — Benchmark comparatif (970 exemples test)</a:t>
            </a:r>
            <a:endParaRPr lang="en-US" sz="2200" dirty="0"/>
          </a:p>
        </p:txBody>
      </p:sp>
      <p:sp>
        <p:nvSpPr>
          <p:cNvPr id="4" name="Shape 2"/>
          <p:cNvSpPr/>
          <p:nvPr/>
        </p:nvSpPr>
        <p:spPr>
          <a:xfrm>
            <a:off x="0" y="0"/>
            <a:ext cx="73152" cy="685800"/>
          </a:xfrm>
          <a:prstGeom prst="rect">
            <a:avLst/>
          </a:prstGeom>
          <a:solidFill>
            <a:srgbClr val="C9A84C"/>
          </a:solidFill>
          <a:ln w="12700">
            <a:solidFill>
              <a:srgbClr val="C9A84C"/>
            </a:solidFill>
            <a:prstDash val="solid"/>
          </a:ln>
        </p:spPr>
      </p:sp>
      <p:sp>
        <p:nvSpPr>
          <p:cNvPr id="5" name="Shape 3"/>
          <p:cNvSpPr/>
          <p:nvPr/>
        </p:nvSpPr>
        <p:spPr>
          <a:xfrm>
            <a:off x="0" y="4983480"/>
            <a:ext cx="9144000" cy="160020"/>
          </a:xfrm>
          <a:prstGeom prst="rect">
            <a:avLst/>
          </a:prstGeom>
          <a:solidFill>
            <a:srgbClr val="003D79"/>
          </a:solidFill>
          <a:ln w="12700">
            <a:solidFill>
              <a:srgbClr val="003D79"/>
            </a:solidFill>
            <a:prstDash val="solid"/>
          </a:ln>
        </p:spPr>
      </p:sp>
      <p:sp>
        <p:nvSpPr>
          <p:cNvPr id="6" name="Text 4"/>
          <p:cNvSpPr/>
          <p:nvPr/>
        </p:nvSpPr>
        <p:spPr>
          <a:xfrm>
            <a:off x="182880" y="4983480"/>
            <a:ext cx="8778240" cy="160020"/>
          </a:xfrm>
          <a:prstGeom prst="rect">
            <a:avLst/>
          </a:prstGeom>
          <a:noFill/>
          <a:ln/>
        </p:spPr>
        <p:txBody>
          <a:bodyPr wrap="square" lIns="0" tIns="0" rIns="0" bIns="0" rtlCol="0" anchor="ctr"/>
          <a:lstStyle/>
          <a:p>
            <a:pPr indent="0" marL="0">
              <a:buNone/>
            </a:pPr>
            <a:r>
              <a:rPr lang="en-US" sz="800" dirty="0">
                <a:solidFill>
                  <a:srgbClr val="FFFFFF"/>
                </a:solidFill>
              </a:rPr>
              <a:t>Analyse de Sentiment Financier — Paris 1 Panthéon-Sorbonne — Avril 2026</a:t>
            </a:r>
            <a:endParaRPr lang="en-US" sz="800" dirty="0"/>
          </a:p>
        </p:txBody>
      </p:sp>
      <p:graphicFrame>
        <p:nvGraphicFramePr>
          <p:cNvPr id="7" name="Chart 0" descr=""/>
          <p:cNvGraphicFramePr/>
          <p:nvPr/>
        </p:nvGraphicFramePr>
        <p:xfrm>
          <a:off x="320040" y="777240"/>
          <a:ext cx="5029200" cy="397764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577840" y="777240"/>
          <a:ext cx="3291840" cy="2377440"/>
        </p:xfrm>
        <a:graphic>
          <a:graphicData uri="http://schemas.openxmlformats.org/drawingml/2006/table">
            <a:tbl>
              <a:tblPr/>
              <a:tblGrid>
                <a:gridCol w="320040"/>
                <a:gridCol w="1234440"/>
                <a:gridCol w="594360"/>
                <a:gridCol w="777240"/>
                <a:gridCol w="365760"/>
              </a:tblGrid>
              <a:tr h="339634">
                <a:tc>
                  <a:txBody>
                    <a:bodyPr/>
                    <a:lstStyle/>
                    <a:p>
                      <a:pPr algn="ctr" indent="0" marL="0">
                        <a:buNone/>
                      </a:pPr>
                      <a:r>
                        <a:rPr lang="en-US" sz="1000" b="1" dirty="0">
                          <a:solidFill>
                            <a:srgbClr val="FFFFFF"/>
                          </a:solidFill>
                        </a:rPr>
                        <a:t>#</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3D79"/>
                    </a:solidFill>
                  </a:tcPr>
                </a:tc>
                <a:tc>
                  <a:txBody>
                    <a:bodyPr/>
                    <a:lstStyle/>
                    <a:p>
                      <a:pPr algn="ctr" indent="0" marL="0">
                        <a:buNone/>
                      </a:pPr>
                      <a:r>
                        <a:rPr lang="en-US" sz="1000" b="1" dirty="0">
                          <a:solidFill>
                            <a:srgbClr val="FFFFFF"/>
                          </a:solidFill>
                        </a:rPr>
                        <a:t>Modèle</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3D79"/>
                    </a:solidFill>
                  </a:tcPr>
                </a:tc>
                <a:tc>
                  <a:txBody>
                    <a:bodyPr/>
                    <a:lstStyle/>
                    <a:p>
                      <a:pPr algn="ctr" indent="0" marL="0">
                        <a:buNone/>
                      </a:pPr>
                      <a:r>
                        <a:rPr lang="en-US" sz="1000" b="1" dirty="0">
                          <a:solidFill>
                            <a:srgbClr val="FFFFFF"/>
                          </a:solidFill>
                        </a:rPr>
                        <a:t>Acc.</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3D79"/>
                    </a:solidFill>
                  </a:tcPr>
                </a:tc>
                <a:tc>
                  <a:txBody>
                    <a:bodyPr/>
                    <a:lstStyle/>
                    <a:p>
                      <a:pPr algn="ctr" indent="0" marL="0">
                        <a:buNone/>
                      </a:pPr>
                      <a:r>
                        <a:rPr lang="en-US" sz="1000" b="1" dirty="0">
                          <a:solidFill>
                            <a:srgbClr val="FFFFFF"/>
                          </a:solidFill>
                        </a:rPr>
                        <a:t>Macro-F1</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3D79"/>
                    </a:solidFill>
                  </a:tcPr>
                </a:tc>
                <a:tc>
                  <a:txBody>
                    <a:bodyPr/>
                    <a:lstStyle/>
                    <a:p>
                      <a:pPr algn="ctr" indent="0" marL="0">
                        <a:buNone/>
                      </a:pPr>
                      <a:r>
                        <a:rPr lang="en-US" sz="1000" b="1" dirty="0">
                          <a:solidFill>
                            <a:srgbClr val="FFFFFF"/>
                          </a:solidFill>
                        </a:rPr>
                        <a:t>Temps</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3D79"/>
                    </a:solidFill>
                  </a:tcPr>
                </a:tc>
              </a:tr>
              <a:tr h="339634">
                <a:tc>
                  <a:txBody>
                    <a:bodyPr/>
                    <a:lstStyle/>
                    <a:p>
                      <a:pPr algn="ctr" indent="0" marL="0">
                        <a:buNone/>
                      </a:pPr>
                      <a:r>
                        <a:rPr lang="en-US" sz="1000" b="1" dirty="0">
                          <a:solidFill>
                            <a:srgbClr val="000000"/>
                          </a:solidFill>
                        </a:rPr>
                        <a:t>1</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b="1" dirty="0">
                          <a:solidFill>
                            <a:srgbClr val="1A7A4A"/>
                          </a:solidFill>
                        </a:rPr>
                        <a:t>FinBERT</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88.1%</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b="1" dirty="0">
                          <a:solidFill>
                            <a:srgbClr val="1A7A4A"/>
                          </a:solidFill>
                        </a:rPr>
                        <a:t>87.7%</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82s</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39634">
                <a:tc>
                  <a:txBody>
                    <a:bodyPr/>
                    <a:lstStyle/>
                    <a:p>
                      <a:pPr algn="ctr" indent="0" marL="0">
                        <a:buNone/>
                      </a:pPr>
                      <a:r>
                        <a:rPr lang="en-US" sz="1000" dirty="0">
                          <a:solidFill>
                            <a:srgbClr val="000000"/>
                          </a:solidFill>
                        </a:rPr>
                        <a:t>2</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DistilBERT</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86.8%</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86.0%</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51s</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39634">
                <a:tc>
                  <a:txBody>
                    <a:bodyPr/>
                    <a:lstStyle/>
                    <a:p>
                      <a:pPr algn="ctr" indent="0" marL="0">
                        <a:buNone/>
                      </a:pPr>
                      <a:r>
                        <a:rPr lang="en-US" sz="1000" dirty="0">
                          <a:solidFill>
                            <a:srgbClr val="000000"/>
                          </a:solidFill>
                        </a:rPr>
                        <a:t>3</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BERT</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85.5%</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83.8%</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111s</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39634">
                <a:tc>
                  <a:txBody>
                    <a:bodyPr/>
                    <a:lstStyle/>
                    <a:p>
                      <a:pPr algn="ctr" indent="0" marL="0">
                        <a:buNone/>
                      </a:pPr>
                      <a:r>
                        <a:rPr lang="en-US" sz="1000" dirty="0">
                          <a:solidFill>
                            <a:srgbClr val="000000"/>
                          </a:solidFill>
                        </a:rPr>
                        <a:t>4</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NaiveBayes</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71.3%</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62.7%</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&lt;1s</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39634">
                <a:tc>
                  <a:txBody>
                    <a:bodyPr/>
                    <a:lstStyle/>
                    <a:p>
                      <a:pPr algn="ctr" indent="0" marL="0">
                        <a:buNone/>
                      </a:pPr>
                      <a:r>
                        <a:rPr lang="en-US" sz="1000" dirty="0">
                          <a:solidFill>
                            <a:srgbClr val="000000"/>
                          </a:solidFill>
                        </a:rPr>
                        <a:t>5</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LogReg</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72.4%</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60.1%</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&lt;1s</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39634">
                <a:tc>
                  <a:txBody>
                    <a:bodyPr/>
                    <a:lstStyle/>
                    <a:p>
                      <a:pPr algn="ctr" indent="0" marL="0">
                        <a:buNone/>
                      </a:pPr>
                      <a:r>
                        <a:rPr lang="en-US" sz="1000" dirty="0">
                          <a:solidFill>
                            <a:srgbClr val="C0392B"/>
                          </a:solidFill>
                        </a:rPr>
                        <a:t>6</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C0392B"/>
                          </a:solidFill>
                        </a:rPr>
                        <a:t>BiLSTM</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C0392B"/>
                          </a:solidFill>
                        </a:rPr>
                        <a:t>63.7%</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C0392B"/>
                          </a:solidFill>
                        </a:rPr>
                        <a:t>37.3%</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rPr>
                        <a:t>41s</a:t>
                      </a:r>
                      <a:endParaRPr lang="en-US" sz="10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9" name="Shape 5"/>
          <p:cNvSpPr/>
          <p:nvPr/>
        </p:nvSpPr>
        <p:spPr>
          <a:xfrm>
            <a:off x="5577840" y="3291840"/>
            <a:ext cx="3291840" cy="347472"/>
          </a:xfrm>
          <a:prstGeom prst="rect">
            <a:avLst/>
          </a:prstGeom>
          <a:solidFill>
            <a:srgbClr val="F1F5F9"/>
          </a:solidFill>
          <a:ln w="12700">
            <a:solidFill>
              <a:srgbClr val="E2E8F0"/>
            </a:solidFill>
            <a:prstDash val="solid"/>
          </a:ln>
        </p:spPr>
      </p:sp>
      <p:sp>
        <p:nvSpPr>
          <p:cNvPr id="10" name="Shape 6"/>
          <p:cNvSpPr/>
          <p:nvPr/>
        </p:nvSpPr>
        <p:spPr>
          <a:xfrm>
            <a:off x="5577840" y="3291840"/>
            <a:ext cx="45720" cy="347472"/>
          </a:xfrm>
          <a:prstGeom prst="rect">
            <a:avLst/>
          </a:prstGeom>
          <a:solidFill>
            <a:srgbClr val="003D79"/>
          </a:solidFill>
          <a:ln w="12700">
            <a:solidFill>
              <a:srgbClr val="003D79"/>
            </a:solidFill>
            <a:prstDash val="solid"/>
          </a:ln>
        </p:spPr>
      </p:sp>
      <p:sp>
        <p:nvSpPr>
          <p:cNvPr id="11" name="Text 7"/>
          <p:cNvSpPr/>
          <p:nvPr/>
        </p:nvSpPr>
        <p:spPr>
          <a:xfrm>
            <a:off x="5687568" y="3310128"/>
            <a:ext cx="3154680" cy="310896"/>
          </a:xfrm>
          <a:prstGeom prst="rect">
            <a:avLst/>
          </a:prstGeom>
          <a:noFill/>
          <a:ln/>
        </p:spPr>
        <p:txBody>
          <a:bodyPr wrap="square" lIns="0" tIns="0" rIns="0" bIns="0" rtlCol="0" anchor="ctr"/>
          <a:lstStyle/>
          <a:p>
            <a:pPr indent="0" marL="0">
              <a:buNone/>
            </a:pPr>
            <a:r>
              <a:rPr lang="en-US" sz="900" dirty="0">
                <a:solidFill>
                  <a:srgbClr val="003D79"/>
                </a:solidFill>
              </a:rPr>
              <a:t>FinBERT domine grâce au pré-entraînement financier (+3.9pts vs BERT)</a:t>
            </a:r>
            <a:endParaRPr lang="en-US" sz="900" dirty="0"/>
          </a:p>
        </p:txBody>
      </p:sp>
      <p:sp>
        <p:nvSpPr>
          <p:cNvPr id="12" name="Shape 8"/>
          <p:cNvSpPr/>
          <p:nvPr/>
        </p:nvSpPr>
        <p:spPr>
          <a:xfrm>
            <a:off x="5577840" y="3675888"/>
            <a:ext cx="3291840" cy="347472"/>
          </a:xfrm>
          <a:prstGeom prst="rect">
            <a:avLst/>
          </a:prstGeom>
          <a:solidFill>
            <a:srgbClr val="FFFFFF"/>
          </a:solidFill>
          <a:ln w="12700">
            <a:solidFill>
              <a:srgbClr val="E2E8F0"/>
            </a:solidFill>
            <a:prstDash val="solid"/>
          </a:ln>
        </p:spPr>
      </p:sp>
      <p:sp>
        <p:nvSpPr>
          <p:cNvPr id="13" name="Shape 9"/>
          <p:cNvSpPr/>
          <p:nvPr/>
        </p:nvSpPr>
        <p:spPr>
          <a:xfrm>
            <a:off x="5577840" y="3675888"/>
            <a:ext cx="45720" cy="347472"/>
          </a:xfrm>
          <a:prstGeom prst="rect">
            <a:avLst/>
          </a:prstGeom>
          <a:solidFill>
            <a:srgbClr val="003D79"/>
          </a:solidFill>
          <a:ln w="12700">
            <a:solidFill>
              <a:srgbClr val="003D79"/>
            </a:solidFill>
            <a:prstDash val="solid"/>
          </a:ln>
        </p:spPr>
      </p:sp>
      <p:sp>
        <p:nvSpPr>
          <p:cNvPr id="14" name="Text 10"/>
          <p:cNvSpPr/>
          <p:nvPr/>
        </p:nvSpPr>
        <p:spPr>
          <a:xfrm>
            <a:off x="5687568" y="3694176"/>
            <a:ext cx="3154680" cy="310896"/>
          </a:xfrm>
          <a:prstGeom prst="rect">
            <a:avLst/>
          </a:prstGeom>
          <a:noFill/>
          <a:ln/>
        </p:spPr>
        <p:txBody>
          <a:bodyPr wrap="square" lIns="0" tIns="0" rIns="0" bIns="0" rtlCol="0" anchor="ctr"/>
          <a:lstStyle/>
          <a:p>
            <a:pPr indent="0" marL="0">
              <a:buNone/>
            </a:pPr>
            <a:r>
              <a:rPr lang="en-US" sz="900" dirty="0">
                <a:solidFill>
                  <a:srgbClr val="003D79"/>
                </a:solidFill>
              </a:rPr>
              <a:t>DistilBERT &gt; BERT : modèle plus compact = moins d'overfitting</a:t>
            </a:r>
            <a:endParaRPr lang="en-US" sz="900" dirty="0"/>
          </a:p>
        </p:txBody>
      </p:sp>
      <p:sp>
        <p:nvSpPr>
          <p:cNvPr id="15" name="Shape 11"/>
          <p:cNvSpPr/>
          <p:nvPr/>
        </p:nvSpPr>
        <p:spPr>
          <a:xfrm>
            <a:off x="5577840" y="4059936"/>
            <a:ext cx="3291840" cy="347472"/>
          </a:xfrm>
          <a:prstGeom prst="rect">
            <a:avLst/>
          </a:prstGeom>
          <a:solidFill>
            <a:srgbClr val="F1F5F9"/>
          </a:solidFill>
          <a:ln w="12700">
            <a:solidFill>
              <a:srgbClr val="E2E8F0"/>
            </a:solidFill>
            <a:prstDash val="solid"/>
          </a:ln>
        </p:spPr>
      </p:sp>
      <p:sp>
        <p:nvSpPr>
          <p:cNvPr id="16" name="Shape 12"/>
          <p:cNvSpPr/>
          <p:nvPr/>
        </p:nvSpPr>
        <p:spPr>
          <a:xfrm>
            <a:off x="5577840" y="4059936"/>
            <a:ext cx="45720" cy="347472"/>
          </a:xfrm>
          <a:prstGeom prst="rect">
            <a:avLst/>
          </a:prstGeom>
          <a:solidFill>
            <a:srgbClr val="64748B"/>
          </a:solidFill>
          <a:ln w="12700">
            <a:solidFill>
              <a:srgbClr val="64748B"/>
            </a:solidFill>
            <a:prstDash val="solid"/>
          </a:ln>
        </p:spPr>
      </p:sp>
      <p:sp>
        <p:nvSpPr>
          <p:cNvPr id="17" name="Text 13"/>
          <p:cNvSpPr/>
          <p:nvPr/>
        </p:nvSpPr>
        <p:spPr>
          <a:xfrm>
            <a:off x="5687568" y="4078224"/>
            <a:ext cx="3154680" cy="310896"/>
          </a:xfrm>
          <a:prstGeom prst="rect">
            <a:avLst/>
          </a:prstGeom>
          <a:noFill/>
          <a:ln/>
        </p:spPr>
        <p:txBody>
          <a:bodyPr wrap="square" lIns="0" tIns="0" rIns="0" bIns="0" rtlCol="0" anchor="ctr"/>
          <a:lstStyle/>
          <a:p>
            <a:pPr indent="0" marL="0">
              <a:buNone/>
            </a:pPr>
            <a:r>
              <a:rPr lang="en-US" sz="900" dirty="0">
                <a:solidFill>
                  <a:srgbClr val="64748B"/>
                </a:solidFill>
              </a:rPr>
              <a:t>Baselines : accuracy correcte mais échec sur la classe minoritaire</a:t>
            </a:r>
            <a:endParaRPr lang="en-US" sz="900" dirty="0"/>
          </a:p>
        </p:txBody>
      </p:sp>
      <p:sp>
        <p:nvSpPr>
          <p:cNvPr id="18" name="Shape 14"/>
          <p:cNvSpPr/>
          <p:nvPr/>
        </p:nvSpPr>
        <p:spPr>
          <a:xfrm>
            <a:off x="5577840" y="4443984"/>
            <a:ext cx="3291840" cy="347472"/>
          </a:xfrm>
          <a:prstGeom prst="rect">
            <a:avLst/>
          </a:prstGeom>
          <a:solidFill>
            <a:srgbClr val="FFFFFF"/>
          </a:solidFill>
          <a:ln w="12700">
            <a:solidFill>
              <a:srgbClr val="E2E8F0"/>
            </a:solidFill>
            <a:prstDash val="solid"/>
          </a:ln>
        </p:spPr>
      </p:sp>
      <p:sp>
        <p:nvSpPr>
          <p:cNvPr id="19" name="Shape 15"/>
          <p:cNvSpPr/>
          <p:nvPr/>
        </p:nvSpPr>
        <p:spPr>
          <a:xfrm>
            <a:off x="5577840" y="4443984"/>
            <a:ext cx="45720" cy="347472"/>
          </a:xfrm>
          <a:prstGeom prst="rect">
            <a:avLst/>
          </a:prstGeom>
          <a:solidFill>
            <a:srgbClr val="C0392B"/>
          </a:solidFill>
          <a:ln w="12700">
            <a:solidFill>
              <a:srgbClr val="C0392B"/>
            </a:solidFill>
            <a:prstDash val="solid"/>
          </a:ln>
        </p:spPr>
      </p:sp>
      <p:sp>
        <p:nvSpPr>
          <p:cNvPr id="20" name="Text 16"/>
          <p:cNvSpPr/>
          <p:nvPr/>
        </p:nvSpPr>
        <p:spPr>
          <a:xfrm>
            <a:off x="5687568" y="4462272"/>
            <a:ext cx="3154680" cy="310896"/>
          </a:xfrm>
          <a:prstGeom prst="rect">
            <a:avLst/>
          </a:prstGeom>
          <a:noFill/>
          <a:ln/>
        </p:spPr>
        <p:txBody>
          <a:bodyPr wrap="square" lIns="0" tIns="0" rIns="0" bIns="0" rtlCol="0" anchor="ctr"/>
          <a:lstStyle/>
          <a:p>
            <a:pPr indent="0" marL="0">
              <a:buNone/>
            </a:pPr>
            <a:r>
              <a:rPr lang="en-US" sz="900" dirty="0">
                <a:solidFill>
                  <a:srgbClr val="C0392B"/>
                </a:solidFill>
              </a:rPr>
              <a:t>BiLSTM : 0% recall sur «negative» sans pré-entraînement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3D79"/>
          </a:solidFill>
          <a:ln w="12700">
            <a:solidFill>
              <a:srgbClr val="003D79"/>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indent="0" marL="0">
              <a:buNone/>
            </a:pPr>
            <a:r>
              <a:rPr lang="en-US" sz="2200" b="1" dirty="0">
                <a:solidFill>
                  <a:srgbClr val="FFFFFF"/>
                </a:solidFill>
              </a:rPr>
              <a:t>Dashboard Streamlit — Architecture &amp; Fonctionnalités</a:t>
            </a:r>
            <a:endParaRPr lang="en-US" sz="2200" dirty="0"/>
          </a:p>
        </p:txBody>
      </p:sp>
      <p:sp>
        <p:nvSpPr>
          <p:cNvPr id="4" name="Shape 2"/>
          <p:cNvSpPr/>
          <p:nvPr/>
        </p:nvSpPr>
        <p:spPr>
          <a:xfrm>
            <a:off x="0" y="0"/>
            <a:ext cx="73152" cy="685800"/>
          </a:xfrm>
          <a:prstGeom prst="rect">
            <a:avLst/>
          </a:prstGeom>
          <a:solidFill>
            <a:srgbClr val="C9A84C"/>
          </a:solidFill>
          <a:ln w="12700">
            <a:solidFill>
              <a:srgbClr val="C9A84C"/>
            </a:solidFill>
            <a:prstDash val="solid"/>
          </a:ln>
        </p:spPr>
      </p:sp>
      <p:sp>
        <p:nvSpPr>
          <p:cNvPr id="5" name="Shape 3"/>
          <p:cNvSpPr/>
          <p:nvPr/>
        </p:nvSpPr>
        <p:spPr>
          <a:xfrm>
            <a:off x="0" y="4983480"/>
            <a:ext cx="9144000" cy="160020"/>
          </a:xfrm>
          <a:prstGeom prst="rect">
            <a:avLst/>
          </a:prstGeom>
          <a:solidFill>
            <a:srgbClr val="003D79"/>
          </a:solidFill>
          <a:ln w="12700">
            <a:solidFill>
              <a:srgbClr val="003D79"/>
            </a:solidFill>
            <a:prstDash val="solid"/>
          </a:ln>
        </p:spPr>
      </p:sp>
      <p:sp>
        <p:nvSpPr>
          <p:cNvPr id="6" name="Text 4"/>
          <p:cNvSpPr/>
          <p:nvPr/>
        </p:nvSpPr>
        <p:spPr>
          <a:xfrm>
            <a:off x="182880" y="4983480"/>
            <a:ext cx="8778240" cy="160020"/>
          </a:xfrm>
          <a:prstGeom prst="rect">
            <a:avLst/>
          </a:prstGeom>
          <a:noFill/>
          <a:ln/>
        </p:spPr>
        <p:txBody>
          <a:bodyPr wrap="square" lIns="0" tIns="0" rIns="0" bIns="0" rtlCol="0" anchor="ctr"/>
          <a:lstStyle/>
          <a:p>
            <a:pPr indent="0" marL="0">
              <a:buNone/>
            </a:pPr>
            <a:r>
              <a:rPr lang="en-US" sz="800" dirty="0">
                <a:solidFill>
                  <a:srgbClr val="FFFFFF"/>
                </a:solidFill>
              </a:rPr>
              <a:t>Analyse de Sentiment Financier — Paris 1 Panthéon-Sorbonne — Avril 2026</a:t>
            </a:r>
            <a:endParaRPr lang="en-US" sz="800" dirty="0"/>
          </a:p>
        </p:txBody>
      </p:sp>
      <p:sp>
        <p:nvSpPr>
          <p:cNvPr id="7" name="Text 5"/>
          <p:cNvSpPr/>
          <p:nvPr/>
        </p:nvSpPr>
        <p:spPr>
          <a:xfrm>
            <a:off x="320040" y="822960"/>
            <a:ext cx="8503920" cy="502920"/>
          </a:xfrm>
          <a:prstGeom prst="rect">
            <a:avLst/>
          </a:prstGeom>
          <a:noFill/>
          <a:ln/>
        </p:spPr>
        <p:txBody>
          <a:bodyPr wrap="square" lIns="0" tIns="0" rIns="0" bIns="0" rtlCol="0" anchor="ctr"/>
          <a:lstStyle/>
          <a:p>
            <a:pPr indent="0" marL="0">
              <a:buNone/>
            </a:pPr>
            <a:r>
              <a:rPr lang="en-US" sz="1050" i="1" dirty="0">
                <a:solidFill>
                  <a:srgbClr val="1E293B"/>
                </a:solidFill>
              </a:rPr>
              <a:t>Interface web complète avec 8 pages (Analyze · Batch Analysis · Live News · Leaderboard · Dataset · Methodology · Rendu · About) — design CSS personnalisé, modèles mis en cache via st.cache_resource.</a:t>
            </a:r>
            <a:endParaRPr lang="en-US" sz="1050" dirty="0"/>
          </a:p>
        </p:txBody>
      </p:sp>
      <p:sp>
        <p:nvSpPr>
          <p:cNvPr id="8" name="Shape 6"/>
          <p:cNvSpPr/>
          <p:nvPr/>
        </p:nvSpPr>
        <p:spPr>
          <a:xfrm>
            <a:off x="320040" y="1417320"/>
            <a:ext cx="4206240" cy="1554480"/>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9" name="Shape 7"/>
          <p:cNvSpPr/>
          <p:nvPr/>
        </p:nvSpPr>
        <p:spPr>
          <a:xfrm>
            <a:off x="320040" y="1417320"/>
            <a:ext cx="4206240" cy="347472"/>
          </a:xfrm>
          <a:prstGeom prst="rect">
            <a:avLst/>
          </a:prstGeom>
          <a:solidFill>
            <a:srgbClr val="003D79"/>
          </a:solidFill>
          <a:ln w="12700">
            <a:solidFill>
              <a:srgbClr val="003D79"/>
            </a:solidFill>
            <a:prstDash val="solid"/>
          </a:ln>
        </p:spPr>
      </p:sp>
      <p:sp>
        <p:nvSpPr>
          <p:cNvPr id="10" name="Text 8"/>
          <p:cNvSpPr/>
          <p:nvPr/>
        </p:nvSpPr>
        <p:spPr>
          <a:xfrm>
            <a:off x="411480" y="1417320"/>
            <a:ext cx="4023360" cy="347472"/>
          </a:xfrm>
          <a:prstGeom prst="rect">
            <a:avLst/>
          </a:prstGeom>
          <a:noFill/>
          <a:ln/>
        </p:spPr>
        <p:txBody>
          <a:bodyPr wrap="square" lIns="0" tIns="0" rIns="0" bIns="0" rtlCol="0" anchor="ctr"/>
          <a:lstStyle/>
          <a:p>
            <a:pPr indent="0" marL="0">
              <a:buNone/>
            </a:pPr>
            <a:r>
              <a:rPr lang="en-US" sz="1200" b="1" dirty="0">
                <a:solidFill>
                  <a:srgbClr val="FFFFFF"/>
                </a:solidFill>
              </a:rPr>
              <a:t>Analyze</a:t>
            </a:r>
            <a:endParaRPr lang="en-US" sz="1200" dirty="0"/>
          </a:p>
        </p:txBody>
      </p:sp>
      <p:sp>
        <p:nvSpPr>
          <p:cNvPr id="11" name="Text 9"/>
          <p:cNvSpPr/>
          <p:nvPr/>
        </p:nvSpPr>
        <p:spPr>
          <a:xfrm>
            <a:off x="411480" y="1801368"/>
            <a:ext cx="4023360" cy="1115568"/>
          </a:xfrm>
          <a:prstGeom prst="rect">
            <a:avLst/>
          </a:prstGeom>
          <a:noFill/>
          <a:ln/>
        </p:spPr>
        <p:txBody>
          <a:bodyPr wrap="square" lIns="0" tIns="0" rIns="0" bIns="0" rtlCol="0" anchor="ctr"/>
          <a:lstStyle/>
          <a:p>
            <a:pPr marL="342900" indent="-342900">
              <a:spcAft>
                <a:spcPts val="200"/>
              </a:spcAft>
              <a:buSzPct val="100000"/>
              <a:buChar char="•"/>
            </a:pPr>
            <a:r>
              <a:rPr lang="en-US" sz="1000" dirty="0">
                <a:solidFill>
                  <a:srgbClr val="1E293B"/>
                </a:solidFill>
              </a:rPr>
              <a:t>Saisie textuelle ou vocale (Web Speech API)</a:t>
            </a:r>
            <a:endParaRPr lang="en-US" sz="1000" dirty="0"/>
          </a:p>
          <a:p>
            <a:pPr marL="342900" indent="-342900">
              <a:spcAft>
                <a:spcPts val="200"/>
              </a:spcAft>
              <a:buSzPct val="100000"/>
              <a:buChar char="•"/>
            </a:pPr>
            <a:r>
              <a:rPr lang="en-US" sz="1000" dirty="0">
                <a:solidFill>
                  <a:srgbClr val="1E293B"/>
                </a:solidFill>
              </a:rPr>
              <a:t>Prédiction avec modèle au choix</a:t>
            </a:r>
            <a:endParaRPr lang="en-US" sz="1000" dirty="0"/>
          </a:p>
          <a:p>
            <a:pPr marL="342900" indent="-342900">
              <a:spcAft>
                <a:spcPts val="200"/>
              </a:spcAft>
              <a:buSzPct val="100000"/>
              <a:buChar char="•"/>
            </a:pPr>
            <a:r>
              <a:rPr lang="en-US" sz="1000" dirty="0">
                <a:solidFill>
                  <a:srgbClr val="1E293B"/>
                </a:solidFill>
              </a:rPr>
              <a:t>Comparaison 3 transformers côte à côte</a:t>
            </a:r>
            <a:endParaRPr lang="en-US" sz="1000" dirty="0"/>
          </a:p>
          <a:p>
            <a:pPr marL="342900" indent="-342900">
              <a:spcAft>
                <a:spcPts val="200"/>
              </a:spcAft>
              <a:buSzPct val="100000"/>
              <a:buChar char="•"/>
            </a:pPr>
            <a:r>
              <a:rPr lang="en-US" sz="1000" dirty="0">
                <a:solidFill>
                  <a:srgbClr val="1E293B"/>
                </a:solidFill>
              </a:rPr>
              <a:t>Explicabilité LIME (surlignage + barres)</a:t>
            </a:r>
            <a:endParaRPr lang="en-US" sz="1000" dirty="0"/>
          </a:p>
        </p:txBody>
      </p:sp>
      <p:sp>
        <p:nvSpPr>
          <p:cNvPr id="12" name="Shape 10"/>
          <p:cNvSpPr/>
          <p:nvPr/>
        </p:nvSpPr>
        <p:spPr>
          <a:xfrm>
            <a:off x="4754880" y="1417320"/>
            <a:ext cx="4206240" cy="1554480"/>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13" name="Shape 11"/>
          <p:cNvSpPr/>
          <p:nvPr/>
        </p:nvSpPr>
        <p:spPr>
          <a:xfrm>
            <a:off x="4754880" y="1417320"/>
            <a:ext cx="4206240" cy="347472"/>
          </a:xfrm>
          <a:prstGeom prst="rect">
            <a:avLst/>
          </a:prstGeom>
          <a:solidFill>
            <a:srgbClr val="003D79"/>
          </a:solidFill>
          <a:ln w="12700">
            <a:solidFill>
              <a:srgbClr val="003D79"/>
            </a:solidFill>
            <a:prstDash val="solid"/>
          </a:ln>
        </p:spPr>
      </p:sp>
      <p:sp>
        <p:nvSpPr>
          <p:cNvPr id="14" name="Text 12"/>
          <p:cNvSpPr/>
          <p:nvPr/>
        </p:nvSpPr>
        <p:spPr>
          <a:xfrm>
            <a:off x="4846320" y="1417320"/>
            <a:ext cx="4023360" cy="347472"/>
          </a:xfrm>
          <a:prstGeom prst="rect">
            <a:avLst/>
          </a:prstGeom>
          <a:noFill/>
          <a:ln/>
        </p:spPr>
        <p:txBody>
          <a:bodyPr wrap="square" lIns="0" tIns="0" rIns="0" bIns="0" rtlCol="0" anchor="ctr"/>
          <a:lstStyle/>
          <a:p>
            <a:pPr indent="0" marL="0">
              <a:buNone/>
            </a:pPr>
            <a:r>
              <a:rPr lang="en-US" sz="1200" b="1" dirty="0">
                <a:solidFill>
                  <a:srgbClr val="FFFFFF"/>
                </a:solidFill>
              </a:rPr>
              <a:t>Batch Analysis</a:t>
            </a:r>
            <a:endParaRPr lang="en-US" sz="1200" dirty="0"/>
          </a:p>
        </p:txBody>
      </p:sp>
      <p:sp>
        <p:nvSpPr>
          <p:cNvPr id="15" name="Text 13"/>
          <p:cNvSpPr/>
          <p:nvPr/>
        </p:nvSpPr>
        <p:spPr>
          <a:xfrm>
            <a:off x="4846320" y="1801368"/>
            <a:ext cx="4023360" cy="1115568"/>
          </a:xfrm>
          <a:prstGeom prst="rect">
            <a:avLst/>
          </a:prstGeom>
          <a:noFill/>
          <a:ln/>
        </p:spPr>
        <p:txBody>
          <a:bodyPr wrap="square" lIns="0" tIns="0" rIns="0" bIns="0" rtlCol="0" anchor="ctr"/>
          <a:lstStyle/>
          <a:p>
            <a:pPr marL="342900" indent="-342900">
              <a:spcAft>
                <a:spcPts val="200"/>
              </a:spcAft>
              <a:buSzPct val="100000"/>
              <a:buChar char="•"/>
            </a:pPr>
            <a:r>
              <a:rPr lang="en-US" sz="1000" dirty="0">
                <a:solidFill>
                  <a:srgbClr val="1E293B"/>
                </a:solidFill>
              </a:rPr>
              <a:t>Upload CSV de headlines</a:t>
            </a:r>
            <a:endParaRPr lang="en-US" sz="1000" dirty="0"/>
          </a:p>
          <a:p>
            <a:pPr marL="342900" indent="-342900">
              <a:spcAft>
                <a:spcPts val="200"/>
              </a:spcAft>
              <a:buSzPct val="100000"/>
              <a:buChar char="•"/>
            </a:pPr>
            <a:r>
              <a:rPr lang="en-US" sz="1000" dirty="0">
                <a:solidFill>
                  <a:srgbClr val="1E293B"/>
                </a:solidFill>
              </a:rPr>
              <a:t>Classification en masse</a:t>
            </a:r>
            <a:endParaRPr lang="en-US" sz="1000" dirty="0"/>
          </a:p>
          <a:p>
            <a:pPr marL="342900" indent="-342900">
              <a:spcAft>
                <a:spcPts val="200"/>
              </a:spcAft>
              <a:buSzPct val="100000"/>
              <a:buChar char="•"/>
            </a:pPr>
            <a:r>
              <a:rPr lang="en-US" sz="1000" dirty="0">
                <a:solidFill>
                  <a:srgbClr val="1E293B"/>
                </a:solidFill>
              </a:rPr>
              <a:t>Graphiques : camembert + histogramme confiance</a:t>
            </a:r>
            <a:endParaRPr lang="en-US" sz="1000" dirty="0"/>
          </a:p>
          <a:p>
            <a:pPr marL="342900" indent="-342900">
              <a:spcAft>
                <a:spcPts val="200"/>
              </a:spcAft>
              <a:buSzPct val="100000"/>
              <a:buChar char="•"/>
            </a:pPr>
            <a:r>
              <a:rPr lang="en-US" sz="1000" dirty="0">
                <a:solidFill>
                  <a:srgbClr val="1E293B"/>
                </a:solidFill>
              </a:rPr>
              <a:t>Export des résultats en CSV</a:t>
            </a:r>
            <a:endParaRPr lang="en-US" sz="1000" dirty="0"/>
          </a:p>
        </p:txBody>
      </p:sp>
      <p:sp>
        <p:nvSpPr>
          <p:cNvPr id="16" name="Shape 14"/>
          <p:cNvSpPr/>
          <p:nvPr/>
        </p:nvSpPr>
        <p:spPr>
          <a:xfrm>
            <a:off x="320040" y="3108960"/>
            <a:ext cx="4206240" cy="1554480"/>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17" name="Shape 15"/>
          <p:cNvSpPr/>
          <p:nvPr/>
        </p:nvSpPr>
        <p:spPr>
          <a:xfrm>
            <a:off x="320040" y="3108960"/>
            <a:ext cx="4206240" cy="347472"/>
          </a:xfrm>
          <a:prstGeom prst="rect">
            <a:avLst/>
          </a:prstGeom>
          <a:solidFill>
            <a:srgbClr val="003D79"/>
          </a:solidFill>
          <a:ln w="12700">
            <a:solidFill>
              <a:srgbClr val="003D79"/>
            </a:solidFill>
            <a:prstDash val="solid"/>
          </a:ln>
        </p:spPr>
      </p:sp>
      <p:sp>
        <p:nvSpPr>
          <p:cNvPr id="18" name="Text 16"/>
          <p:cNvSpPr/>
          <p:nvPr/>
        </p:nvSpPr>
        <p:spPr>
          <a:xfrm>
            <a:off x="411480" y="3108960"/>
            <a:ext cx="4023360" cy="347472"/>
          </a:xfrm>
          <a:prstGeom prst="rect">
            <a:avLst/>
          </a:prstGeom>
          <a:noFill/>
          <a:ln/>
        </p:spPr>
        <p:txBody>
          <a:bodyPr wrap="square" lIns="0" tIns="0" rIns="0" bIns="0" rtlCol="0" anchor="ctr"/>
          <a:lstStyle/>
          <a:p>
            <a:pPr indent="0" marL="0">
              <a:buNone/>
            </a:pPr>
            <a:r>
              <a:rPr lang="en-US" sz="1200" b="1" dirty="0">
                <a:solidFill>
                  <a:srgbClr val="FFFFFF"/>
                </a:solidFill>
              </a:rPr>
              <a:t>Live News</a:t>
            </a:r>
            <a:endParaRPr lang="en-US" sz="1200" dirty="0"/>
          </a:p>
        </p:txBody>
      </p:sp>
      <p:sp>
        <p:nvSpPr>
          <p:cNvPr id="19" name="Text 17"/>
          <p:cNvSpPr/>
          <p:nvPr/>
        </p:nvSpPr>
        <p:spPr>
          <a:xfrm>
            <a:off x="411480" y="3493008"/>
            <a:ext cx="4023360" cy="1115568"/>
          </a:xfrm>
          <a:prstGeom prst="rect">
            <a:avLst/>
          </a:prstGeom>
          <a:noFill/>
          <a:ln/>
        </p:spPr>
        <p:txBody>
          <a:bodyPr wrap="square" lIns="0" tIns="0" rIns="0" bIns="0" rtlCol="0" anchor="ctr"/>
          <a:lstStyle/>
          <a:p>
            <a:pPr marL="342900" indent="-342900">
              <a:spcAft>
                <a:spcPts val="200"/>
              </a:spcAft>
              <a:buSzPct val="100000"/>
              <a:buChar char="•"/>
            </a:pPr>
            <a:r>
              <a:rPr lang="en-US" sz="1000" dirty="0">
                <a:solidFill>
                  <a:srgbClr val="1E293B"/>
                </a:solidFill>
              </a:rPr>
              <a:t>Saisie d'un ticker boursier (AAPL, TSLA…)</a:t>
            </a:r>
            <a:endParaRPr lang="en-US" sz="1000" dirty="0"/>
          </a:p>
          <a:p>
            <a:pPr marL="342900" indent="-342900">
              <a:spcAft>
                <a:spcPts val="200"/>
              </a:spcAft>
              <a:buSzPct val="100000"/>
              <a:buChar char="•"/>
            </a:pPr>
            <a:r>
              <a:rPr lang="en-US" sz="1000" dirty="0">
                <a:solidFill>
                  <a:srgbClr val="1E293B"/>
                </a:solidFill>
              </a:rPr>
              <a:t>API yfinance → dernières headlines</a:t>
            </a:r>
            <a:endParaRPr lang="en-US" sz="1000" dirty="0"/>
          </a:p>
          <a:p>
            <a:pPr marL="342900" indent="-342900">
              <a:spcAft>
                <a:spcPts val="200"/>
              </a:spcAft>
              <a:buSzPct val="100000"/>
              <a:buChar char="•"/>
            </a:pPr>
            <a:r>
              <a:rPr lang="en-US" sz="1000" dirty="0">
                <a:solidFill>
                  <a:srgbClr val="1E293B"/>
                </a:solidFill>
              </a:rPr>
              <a:t>Classification en temps réel</a:t>
            </a:r>
            <a:endParaRPr lang="en-US" sz="1000" dirty="0"/>
          </a:p>
          <a:p>
            <a:pPr marL="342900" indent="-342900">
              <a:spcAft>
                <a:spcPts val="200"/>
              </a:spcAft>
              <a:buSzPct val="100000"/>
              <a:buChar char="•"/>
            </a:pPr>
            <a:r>
              <a:rPr lang="en-US" sz="1000" dirty="0">
                <a:solidFill>
                  <a:srgbClr val="1E293B"/>
                </a:solidFill>
              </a:rPr>
              <a:t>Score de sentiment global (positifs − négatifs)</a:t>
            </a:r>
            <a:endParaRPr lang="en-US" sz="1000" dirty="0"/>
          </a:p>
        </p:txBody>
      </p:sp>
      <p:sp>
        <p:nvSpPr>
          <p:cNvPr id="20" name="Shape 18"/>
          <p:cNvSpPr/>
          <p:nvPr/>
        </p:nvSpPr>
        <p:spPr>
          <a:xfrm>
            <a:off x="4754880" y="3108960"/>
            <a:ext cx="4206240" cy="1554480"/>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21" name="Shape 19"/>
          <p:cNvSpPr/>
          <p:nvPr/>
        </p:nvSpPr>
        <p:spPr>
          <a:xfrm>
            <a:off x="4754880" y="3108960"/>
            <a:ext cx="4206240" cy="347472"/>
          </a:xfrm>
          <a:prstGeom prst="rect">
            <a:avLst/>
          </a:prstGeom>
          <a:solidFill>
            <a:srgbClr val="003D79"/>
          </a:solidFill>
          <a:ln w="12700">
            <a:solidFill>
              <a:srgbClr val="003D79"/>
            </a:solidFill>
            <a:prstDash val="solid"/>
          </a:ln>
        </p:spPr>
      </p:sp>
      <p:sp>
        <p:nvSpPr>
          <p:cNvPr id="22" name="Text 20"/>
          <p:cNvSpPr/>
          <p:nvPr/>
        </p:nvSpPr>
        <p:spPr>
          <a:xfrm>
            <a:off x="4846320" y="3108960"/>
            <a:ext cx="4023360" cy="347472"/>
          </a:xfrm>
          <a:prstGeom prst="rect">
            <a:avLst/>
          </a:prstGeom>
          <a:noFill/>
          <a:ln/>
        </p:spPr>
        <p:txBody>
          <a:bodyPr wrap="square" lIns="0" tIns="0" rIns="0" bIns="0" rtlCol="0" anchor="ctr"/>
          <a:lstStyle/>
          <a:p>
            <a:pPr indent="0" marL="0">
              <a:buNone/>
            </a:pPr>
            <a:r>
              <a:rPr lang="en-US" sz="1200" b="1" dirty="0">
                <a:solidFill>
                  <a:srgbClr val="FFFFFF"/>
                </a:solidFill>
              </a:rPr>
              <a:t>Leaderboard</a:t>
            </a:r>
            <a:endParaRPr lang="en-US" sz="1200" dirty="0"/>
          </a:p>
        </p:txBody>
      </p:sp>
      <p:sp>
        <p:nvSpPr>
          <p:cNvPr id="23" name="Text 21"/>
          <p:cNvSpPr/>
          <p:nvPr/>
        </p:nvSpPr>
        <p:spPr>
          <a:xfrm>
            <a:off x="4846320" y="3493008"/>
            <a:ext cx="4023360" cy="1115568"/>
          </a:xfrm>
          <a:prstGeom prst="rect">
            <a:avLst/>
          </a:prstGeom>
          <a:noFill/>
          <a:ln/>
        </p:spPr>
        <p:txBody>
          <a:bodyPr wrap="square" lIns="0" tIns="0" rIns="0" bIns="0" rtlCol="0" anchor="ctr"/>
          <a:lstStyle/>
          <a:p>
            <a:pPr marL="342900" indent="-342900">
              <a:spcAft>
                <a:spcPts val="200"/>
              </a:spcAft>
              <a:buSzPct val="100000"/>
              <a:buChar char="•"/>
            </a:pPr>
            <a:r>
              <a:rPr lang="en-US" sz="1000" dirty="0">
                <a:solidFill>
                  <a:srgbClr val="1E293B"/>
                </a:solidFill>
              </a:rPr>
              <a:t>build_leaderboard.py → JSON/CSV/Markdown</a:t>
            </a:r>
            <a:endParaRPr lang="en-US" sz="1000" dirty="0"/>
          </a:p>
          <a:p>
            <a:pPr marL="342900" indent="-342900">
              <a:spcAft>
                <a:spcPts val="200"/>
              </a:spcAft>
              <a:buSzPct val="100000"/>
              <a:buChar char="•"/>
            </a:pPr>
            <a:r>
              <a:rPr lang="en-US" sz="1000" dirty="0">
                <a:solidFill>
                  <a:srgbClr val="1E293B"/>
                </a:solidFill>
              </a:rPr>
              <a:t>Tableau trié par macro-F1 décroissant</a:t>
            </a:r>
            <a:endParaRPr lang="en-US" sz="1000" dirty="0"/>
          </a:p>
          <a:p>
            <a:pPr marL="342900" indent="-342900">
              <a:spcAft>
                <a:spcPts val="200"/>
              </a:spcAft>
              <a:buSzPct val="100000"/>
              <a:buChar char="•"/>
            </a:pPr>
            <a:r>
              <a:rPr lang="en-US" sz="1000" dirty="0">
                <a:solidFill>
                  <a:srgbClr val="1E293B"/>
                </a:solidFill>
              </a:rPr>
              <a:t>Accuracy · Macro-F1 · Weighted-F1 · Temps</a:t>
            </a:r>
            <a:endParaRPr lang="en-US" sz="1000" dirty="0"/>
          </a:p>
          <a:p>
            <a:pPr marL="342900" indent="-342900">
              <a:spcAft>
                <a:spcPts val="200"/>
              </a:spcAft>
              <a:buSzPct val="100000"/>
              <a:buChar char="•"/>
            </a:pPr>
            <a:r>
              <a:rPr lang="en-US" sz="1000" dirty="0">
                <a:solidFill>
                  <a:srgbClr val="1E293B"/>
                </a:solidFill>
              </a:rPr>
              <a:t>Mis à jour automatiquement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3D79"/>
          </a:solidFill>
          <a:ln w="12700">
            <a:solidFill>
              <a:srgbClr val="003D79"/>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indent="0" marL="0">
              <a:buNone/>
            </a:pPr>
            <a:r>
              <a:rPr lang="en-US" sz="2200" b="1" dirty="0">
                <a:solidFill>
                  <a:srgbClr val="FFFFFF"/>
                </a:solidFill>
              </a:rPr>
              <a:t>Focus technique — LIME &amp; Entrée vocale</a:t>
            </a:r>
            <a:endParaRPr lang="en-US" sz="2200" dirty="0"/>
          </a:p>
        </p:txBody>
      </p:sp>
      <p:sp>
        <p:nvSpPr>
          <p:cNvPr id="4" name="Shape 2"/>
          <p:cNvSpPr/>
          <p:nvPr/>
        </p:nvSpPr>
        <p:spPr>
          <a:xfrm>
            <a:off x="0" y="0"/>
            <a:ext cx="73152" cy="685800"/>
          </a:xfrm>
          <a:prstGeom prst="rect">
            <a:avLst/>
          </a:prstGeom>
          <a:solidFill>
            <a:srgbClr val="C9A84C"/>
          </a:solidFill>
          <a:ln w="12700">
            <a:solidFill>
              <a:srgbClr val="C9A84C"/>
            </a:solidFill>
            <a:prstDash val="solid"/>
          </a:ln>
        </p:spPr>
      </p:sp>
      <p:sp>
        <p:nvSpPr>
          <p:cNvPr id="5" name="Shape 3"/>
          <p:cNvSpPr/>
          <p:nvPr/>
        </p:nvSpPr>
        <p:spPr>
          <a:xfrm>
            <a:off x="0" y="4983480"/>
            <a:ext cx="9144000" cy="160020"/>
          </a:xfrm>
          <a:prstGeom prst="rect">
            <a:avLst/>
          </a:prstGeom>
          <a:solidFill>
            <a:srgbClr val="003D79"/>
          </a:solidFill>
          <a:ln w="12700">
            <a:solidFill>
              <a:srgbClr val="003D79"/>
            </a:solidFill>
            <a:prstDash val="solid"/>
          </a:ln>
        </p:spPr>
      </p:sp>
      <p:sp>
        <p:nvSpPr>
          <p:cNvPr id="6" name="Text 4"/>
          <p:cNvSpPr/>
          <p:nvPr/>
        </p:nvSpPr>
        <p:spPr>
          <a:xfrm>
            <a:off x="182880" y="4983480"/>
            <a:ext cx="8778240" cy="160020"/>
          </a:xfrm>
          <a:prstGeom prst="rect">
            <a:avLst/>
          </a:prstGeom>
          <a:noFill/>
          <a:ln/>
        </p:spPr>
        <p:txBody>
          <a:bodyPr wrap="square" lIns="0" tIns="0" rIns="0" bIns="0" rtlCol="0" anchor="ctr"/>
          <a:lstStyle/>
          <a:p>
            <a:pPr indent="0" marL="0">
              <a:buNone/>
            </a:pPr>
            <a:r>
              <a:rPr lang="en-US" sz="800" dirty="0">
                <a:solidFill>
                  <a:srgbClr val="FFFFFF"/>
                </a:solidFill>
              </a:rPr>
              <a:t>Analyse de Sentiment Financier — Paris 1 Panthéon-Sorbonne — Avril 2026</a:t>
            </a:r>
            <a:endParaRPr lang="en-US" sz="800" dirty="0"/>
          </a:p>
        </p:txBody>
      </p:sp>
      <p:sp>
        <p:nvSpPr>
          <p:cNvPr id="7" name="Shape 5"/>
          <p:cNvSpPr/>
          <p:nvPr/>
        </p:nvSpPr>
        <p:spPr>
          <a:xfrm>
            <a:off x="320040" y="822960"/>
            <a:ext cx="8503920" cy="1874520"/>
          </a:xfrm>
          <a:prstGeom prst="rect">
            <a:avLst/>
          </a:prstGeom>
          <a:solidFill>
            <a:srgbClr val="E8F0F8"/>
          </a:solidFill>
          <a:ln w="12700">
            <a:solidFill>
              <a:srgbClr val="003D79"/>
            </a:solidFill>
            <a:prstDash val="solid"/>
          </a:ln>
        </p:spPr>
      </p:sp>
      <p:sp>
        <p:nvSpPr>
          <p:cNvPr id="8" name="Shape 6"/>
          <p:cNvSpPr/>
          <p:nvPr/>
        </p:nvSpPr>
        <p:spPr>
          <a:xfrm>
            <a:off x="320040" y="822960"/>
            <a:ext cx="54864" cy="1874520"/>
          </a:xfrm>
          <a:prstGeom prst="rect">
            <a:avLst/>
          </a:prstGeom>
          <a:solidFill>
            <a:srgbClr val="C9A84C"/>
          </a:solidFill>
          <a:ln w="12700">
            <a:solidFill>
              <a:srgbClr val="C9A84C"/>
            </a:solidFill>
            <a:prstDash val="solid"/>
          </a:ln>
        </p:spPr>
      </p:sp>
      <p:sp>
        <p:nvSpPr>
          <p:cNvPr id="9" name="Text 7"/>
          <p:cNvSpPr/>
          <p:nvPr/>
        </p:nvSpPr>
        <p:spPr>
          <a:xfrm>
            <a:off x="502920" y="868680"/>
            <a:ext cx="8138160" cy="320040"/>
          </a:xfrm>
          <a:prstGeom prst="rect">
            <a:avLst/>
          </a:prstGeom>
          <a:noFill/>
          <a:ln/>
        </p:spPr>
        <p:txBody>
          <a:bodyPr wrap="square" lIns="0" tIns="0" rIns="0" bIns="0" rtlCol="0" anchor="ctr"/>
          <a:lstStyle/>
          <a:p>
            <a:pPr indent="0" marL="0">
              <a:buNone/>
            </a:pPr>
            <a:r>
              <a:rPr lang="en-US" sz="1300" b="1" dirty="0">
                <a:solidFill>
                  <a:srgbClr val="003D79"/>
                </a:solidFill>
              </a:rPr>
              <a:t>Explicabilité avec LIME</a:t>
            </a:r>
            <a:endParaRPr lang="en-US" sz="1300" dirty="0"/>
          </a:p>
        </p:txBody>
      </p:sp>
      <p:sp>
        <p:nvSpPr>
          <p:cNvPr id="10" name="Text 8"/>
          <p:cNvSpPr/>
          <p:nvPr/>
        </p:nvSpPr>
        <p:spPr>
          <a:xfrm>
            <a:off x="502920" y="1216152"/>
            <a:ext cx="8138160" cy="1325880"/>
          </a:xfrm>
          <a:prstGeom prst="rect">
            <a:avLst/>
          </a:prstGeom>
          <a:noFill/>
          <a:ln/>
        </p:spPr>
        <p:txBody>
          <a:bodyPr wrap="square" lIns="0" tIns="0" rIns="0" bIns="0" rtlCol="0" anchor="ctr"/>
          <a:lstStyle/>
          <a:p>
            <a:pPr indent="0" marL="0">
              <a:buNone/>
            </a:pPr>
            <a:r>
              <a:rPr lang="en-US" sz="1100" b="1" dirty="0">
                <a:solidFill>
                  <a:srgbClr val="1E293B"/>
                </a:solidFill>
              </a:rPr>
              <a:t>LIME (Ribeiro et al., 2016) </a:t>
            </a:r>
            <a:pPr indent="0" marL="0">
              <a:buNone/>
            </a:pPr>
            <a:r>
              <a:rPr lang="en-US" sz="1100" dirty="0">
                <a:solidFill>
                  <a:srgbClr val="1E293B"/>
                </a:solidFill>
              </a:rPr>
              <a:t>génère des perturbations locales de la phrase (en masquant des mots) et observe l'évolution de la prédiction. Les mots les plus influents sont identifiés et affichés de deux façons :
</a:t>
            </a:r>
            <a:pPr indent="0" marL="0">
              <a:buNone/>
            </a:pPr>
            <a:r>
              <a:rPr lang="en-US" sz="1100" b="1" dirty="0">
                <a:solidFill>
                  <a:srgbClr val="1E293B"/>
                </a:solidFill>
              </a:rPr>
              <a:t>① Surlignage coloré </a:t>
            </a:r>
            <a:pPr indent="0" marL="0">
              <a:buNone/>
            </a:pPr>
            <a:r>
              <a:rPr lang="en-US" sz="1100" dirty="0">
                <a:solidFill>
                  <a:srgbClr val="1E293B"/>
                </a:solidFill>
              </a:rPr>
              <a:t>(vert = en faveur de la classe prédite, rouge = contre)
</a:t>
            </a:r>
            <a:pPr indent="0" marL="0">
              <a:buNone/>
            </a:pPr>
            <a:r>
              <a:rPr lang="en-US" sz="1100" b="1" dirty="0">
                <a:solidFill>
                  <a:srgbClr val="1E293B"/>
                </a:solidFill>
              </a:rPr>
              <a:t>② Diagramme à barres horizontales </a:t>
            </a:r>
            <a:pPr indent="0" marL="0">
              <a:buNone/>
            </a:pPr>
            <a:r>
              <a:rPr lang="en-US" sz="1100" dirty="0">
                <a:solidFill>
                  <a:srgbClr val="1E293B"/>
                </a:solidFill>
              </a:rPr>
              <a:t>avec score d'importance quantitatif pour chaque mot.</a:t>
            </a:r>
            <a:endParaRPr lang="en-US" sz="1100" dirty="0"/>
          </a:p>
        </p:txBody>
      </p:sp>
      <p:sp>
        <p:nvSpPr>
          <p:cNvPr id="11" name="Shape 9"/>
          <p:cNvSpPr/>
          <p:nvPr/>
        </p:nvSpPr>
        <p:spPr>
          <a:xfrm>
            <a:off x="320040" y="2834640"/>
            <a:ext cx="8503920" cy="1874520"/>
          </a:xfrm>
          <a:prstGeom prst="rect">
            <a:avLst/>
          </a:prstGeom>
          <a:solidFill>
            <a:srgbClr val="E8F0F8"/>
          </a:solidFill>
          <a:ln w="12700">
            <a:solidFill>
              <a:srgbClr val="003D79"/>
            </a:solidFill>
            <a:prstDash val="solid"/>
          </a:ln>
        </p:spPr>
      </p:sp>
      <p:sp>
        <p:nvSpPr>
          <p:cNvPr id="12" name="Shape 10"/>
          <p:cNvSpPr/>
          <p:nvPr/>
        </p:nvSpPr>
        <p:spPr>
          <a:xfrm>
            <a:off x="320040" y="2834640"/>
            <a:ext cx="54864" cy="1874520"/>
          </a:xfrm>
          <a:prstGeom prst="rect">
            <a:avLst/>
          </a:prstGeom>
          <a:solidFill>
            <a:srgbClr val="C9A84C"/>
          </a:solidFill>
          <a:ln w="12700">
            <a:solidFill>
              <a:srgbClr val="C9A84C"/>
            </a:solidFill>
            <a:prstDash val="solid"/>
          </a:ln>
        </p:spPr>
      </p:sp>
      <p:sp>
        <p:nvSpPr>
          <p:cNvPr id="13" name="Text 11"/>
          <p:cNvSpPr/>
          <p:nvPr/>
        </p:nvSpPr>
        <p:spPr>
          <a:xfrm>
            <a:off x="502920" y="2880360"/>
            <a:ext cx="8138160" cy="320040"/>
          </a:xfrm>
          <a:prstGeom prst="rect">
            <a:avLst/>
          </a:prstGeom>
          <a:noFill/>
          <a:ln/>
        </p:spPr>
        <p:txBody>
          <a:bodyPr wrap="square" lIns="0" tIns="0" rIns="0" bIns="0" rtlCol="0" anchor="ctr"/>
          <a:lstStyle/>
          <a:p>
            <a:pPr indent="0" marL="0">
              <a:buNone/>
            </a:pPr>
            <a:r>
              <a:rPr lang="en-US" sz="1300" b="1" dirty="0">
                <a:solidFill>
                  <a:srgbClr val="003D79"/>
                </a:solidFill>
              </a:rPr>
              <a:t>Entrée vocale dans Streamlit — Défi technique</a:t>
            </a:r>
            <a:endParaRPr lang="en-US" sz="1300" dirty="0"/>
          </a:p>
        </p:txBody>
      </p:sp>
      <p:sp>
        <p:nvSpPr>
          <p:cNvPr id="14" name="Text 12"/>
          <p:cNvSpPr/>
          <p:nvPr/>
        </p:nvSpPr>
        <p:spPr>
          <a:xfrm>
            <a:off x="502920" y="3200400"/>
            <a:ext cx="8138160" cy="1371600"/>
          </a:xfrm>
          <a:prstGeom prst="rect">
            <a:avLst/>
          </a:prstGeom>
          <a:noFill/>
          <a:ln/>
        </p:spPr>
        <p:txBody>
          <a:bodyPr wrap="square" lIns="0" tIns="0" rIns="0" bIns="0" rtlCol="0" anchor="ctr"/>
          <a:lstStyle/>
          <a:p>
            <a:pPr indent="0" marL="0">
              <a:buNone/>
            </a:pPr>
            <a:r>
              <a:rPr lang="en-US" sz="1100" b="1" dirty="0">
                <a:solidFill>
                  <a:srgbClr val="1E293B"/>
                </a:solidFill>
              </a:rPr>
              <a:t>Problème : </a:t>
            </a:r>
            <a:pPr indent="0" marL="0">
              <a:buNone/>
            </a:pPr>
            <a:r>
              <a:rPr lang="en-US" sz="1100" dirty="0">
                <a:solidFill>
                  <a:srgbClr val="1E293B"/>
                </a:solidFill>
              </a:rPr>
              <a:t>les iframes Streamlit (sandbox) bloquent l'accès au microphone.
</a:t>
            </a:r>
            <a:pPr indent="0" marL="0">
              <a:buNone/>
            </a:pPr>
            <a:r>
              <a:rPr lang="en-US" sz="1100" b="1" dirty="0">
                <a:solidFill>
                  <a:srgbClr val="1E293B"/>
                </a:solidFill>
              </a:rPr>
              <a:t>Solution : </a:t>
            </a:r>
            <a:pPr indent="0" marL="0">
              <a:buNone/>
            </a:pPr>
            <a:r>
              <a:rPr lang="en-US" sz="1100" dirty="0">
                <a:solidFill>
                  <a:srgbClr val="1E293B"/>
                </a:solidFill>
              </a:rPr>
              <a:t>utiliser </a:t>
            </a:r>
            <a:pPr indent="0" marL="0">
              <a:buNone/>
            </a:pPr>
            <a:r>
              <a:rPr lang="en-US" sz="1100" b="1" dirty="0">
                <a:solidFill>
                  <a:srgbClr val="1E293B"/>
                </a:solidFill>
                <a:latin typeface="Consolas" pitchFamily="34" charset="0"/>
                <a:ea typeface="Consolas" pitchFamily="34" charset="-122"/>
                <a:cs typeface="Consolas" pitchFamily="34" charset="-120"/>
              </a:rPr>
              <a:t>components.html()</a:t>
            </a:r>
            <a:pPr indent="0" marL="0">
              <a:buNone/>
            </a:pPr>
            <a:r>
              <a:rPr lang="en-US" sz="1100" dirty="0">
                <a:solidFill>
                  <a:srgbClr val="1E293B"/>
                </a:solidFill>
              </a:rPr>
              <a:t> pour injecter un </a:t>
            </a:r>
            <a:pPr indent="0" marL="0">
              <a:buNone/>
            </a:pPr>
            <a:r>
              <a:rPr lang="en-US" sz="1100" b="1" dirty="0">
                <a:solidFill>
                  <a:srgbClr val="1E293B"/>
                </a:solidFill>
                <a:latin typeface="Consolas" pitchFamily="34" charset="0"/>
                <a:ea typeface="Consolas" pitchFamily="34" charset="-122"/>
                <a:cs typeface="Consolas" pitchFamily="34" charset="-120"/>
              </a:rPr>
              <a:t>&lt;script&gt;</a:t>
            </a:r>
            <a:pPr indent="0" marL="0">
              <a:buNone/>
            </a:pPr>
            <a:r>
              <a:rPr lang="en-US" sz="1100" dirty="0">
                <a:solidFill>
                  <a:srgbClr val="1E293B"/>
                </a:solidFill>
              </a:rPr>
              <a:t> dans le document parent Streamlit → le SpeechRecognition s'exécute dans le bon contexte avec les permissions navigateur.
</a:t>
            </a:r>
            <a:pPr indent="0" marL="0">
              <a:buNone/>
            </a:pPr>
            <a:r>
              <a:rPr lang="en-US" sz="1100" b="1" dirty="0">
                <a:solidFill>
                  <a:srgbClr val="1E293B"/>
                </a:solidFill>
              </a:rPr>
              <a:t>Synchronisation : </a:t>
            </a:r>
            <a:pPr indent="0" marL="0">
              <a:buNone/>
            </a:pPr>
            <a:r>
              <a:rPr lang="en-US" sz="1100" dirty="0">
                <a:solidFill>
                  <a:srgbClr val="1E293B"/>
                </a:solidFill>
              </a:rPr>
              <a:t>setter natif de HTMLTextAreaElement + événements synthétiques input/change + callbacks on_click pour que Streamlit détecte la nouvelle valeur.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3D79"/>
          </a:solidFill>
          <a:ln w="12700">
            <a:solidFill>
              <a:srgbClr val="003D79"/>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indent="0" marL="0">
              <a:buNone/>
            </a:pPr>
            <a:r>
              <a:rPr lang="en-US" sz="2200" b="1" dirty="0">
                <a:solidFill>
                  <a:srgbClr val="FFFFFF"/>
                </a:solidFill>
              </a:rPr>
              <a:t>Difficultés rencontrées</a:t>
            </a:r>
            <a:endParaRPr lang="en-US" sz="2200" dirty="0"/>
          </a:p>
        </p:txBody>
      </p:sp>
      <p:sp>
        <p:nvSpPr>
          <p:cNvPr id="4" name="Shape 2"/>
          <p:cNvSpPr/>
          <p:nvPr/>
        </p:nvSpPr>
        <p:spPr>
          <a:xfrm>
            <a:off x="0" y="0"/>
            <a:ext cx="73152" cy="685800"/>
          </a:xfrm>
          <a:prstGeom prst="rect">
            <a:avLst/>
          </a:prstGeom>
          <a:solidFill>
            <a:srgbClr val="C9A84C"/>
          </a:solidFill>
          <a:ln w="12700">
            <a:solidFill>
              <a:srgbClr val="C9A84C"/>
            </a:solidFill>
            <a:prstDash val="solid"/>
          </a:ln>
        </p:spPr>
      </p:sp>
      <p:sp>
        <p:nvSpPr>
          <p:cNvPr id="5" name="Shape 3"/>
          <p:cNvSpPr/>
          <p:nvPr/>
        </p:nvSpPr>
        <p:spPr>
          <a:xfrm>
            <a:off x="0" y="4983480"/>
            <a:ext cx="9144000" cy="160020"/>
          </a:xfrm>
          <a:prstGeom prst="rect">
            <a:avLst/>
          </a:prstGeom>
          <a:solidFill>
            <a:srgbClr val="003D79"/>
          </a:solidFill>
          <a:ln w="12700">
            <a:solidFill>
              <a:srgbClr val="003D79"/>
            </a:solidFill>
            <a:prstDash val="solid"/>
          </a:ln>
        </p:spPr>
      </p:sp>
      <p:sp>
        <p:nvSpPr>
          <p:cNvPr id="6" name="Text 4"/>
          <p:cNvSpPr/>
          <p:nvPr/>
        </p:nvSpPr>
        <p:spPr>
          <a:xfrm>
            <a:off x="182880" y="4983480"/>
            <a:ext cx="8778240" cy="160020"/>
          </a:xfrm>
          <a:prstGeom prst="rect">
            <a:avLst/>
          </a:prstGeom>
          <a:noFill/>
          <a:ln/>
        </p:spPr>
        <p:txBody>
          <a:bodyPr wrap="square" lIns="0" tIns="0" rIns="0" bIns="0" rtlCol="0" anchor="ctr"/>
          <a:lstStyle/>
          <a:p>
            <a:pPr indent="0" marL="0">
              <a:buNone/>
            </a:pPr>
            <a:r>
              <a:rPr lang="en-US" sz="800" dirty="0">
                <a:solidFill>
                  <a:srgbClr val="FFFFFF"/>
                </a:solidFill>
              </a:rPr>
              <a:t>Analyse de Sentiment Financier — Paris 1 Panthéon-Sorbonne — Avril 2026</a:t>
            </a:r>
            <a:endParaRPr lang="en-US" sz="800" dirty="0"/>
          </a:p>
        </p:txBody>
      </p:sp>
      <p:sp>
        <p:nvSpPr>
          <p:cNvPr id="7" name="Shape 5"/>
          <p:cNvSpPr/>
          <p:nvPr/>
        </p:nvSpPr>
        <p:spPr>
          <a:xfrm>
            <a:off x="320040" y="822960"/>
            <a:ext cx="8503920" cy="713232"/>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320040" y="822960"/>
            <a:ext cx="457200" cy="713232"/>
          </a:xfrm>
          <a:prstGeom prst="rect">
            <a:avLst/>
          </a:prstGeom>
          <a:solidFill>
            <a:srgbClr val="C0392B"/>
          </a:solidFill>
          <a:ln w="12700">
            <a:solidFill>
              <a:srgbClr val="C0392B"/>
            </a:solidFill>
            <a:prstDash val="solid"/>
          </a:ln>
        </p:spPr>
      </p:sp>
      <p:sp>
        <p:nvSpPr>
          <p:cNvPr id="9" name="Text 7"/>
          <p:cNvSpPr/>
          <p:nvPr/>
        </p:nvSpPr>
        <p:spPr>
          <a:xfrm>
            <a:off x="320040" y="822960"/>
            <a:ext cx="457200" cy="71323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10" name="Text 8"/>
          <p:cNvSpPr/>
          <p:nvPr/>
        </p:nvSpPr>
        <p:spPr>
          <a:xfrm>
            <a:off x="868680" y="868680"/>
            <a:ext cx="7863840" cy="274320"/>
          </a:xfrm>
          <a:prstGeom prst="rect">
            <a:avLst/>
          </a:prstGeom>
          <a:noFill/>
          <a:ln/>
        </p:spPr>
        <p:txBody>
          <a:bodyPr wrap="square" lIns="0" tIns="0" rIns="0" bIns="0" rtlCol="0" anchor="ctr"/>
          <a:lstStyle/>
          <a:p>
            <a:pPr indent="0" marL="0">
              <a:buNone/>
            </a:pPr>
            <a:r>
              <a:rPr lang="en-US" sz="1150" b="1" dirty="0">
                <a:solidFill>
                  <a:srgbClr val="C0392B"/>
                </a:solidFill>
              </a:rPr>
              <a:t>Gestion VRAM GPU</a:t>
            </a:r>
            <a:endParaRPr lang="en-US" sz="1150" dirty="0"/>
          </a:p>
        </p:txBody>
      </p:sp>
      <p:sp>
        <p:nvSpPr>
          <p:cNvPr id="11" name="Text 9"/>
          <p:cNvSpPr/>
          <p:nvPr/>
        </p:nvSpPr>
        <p:spPr>
          <a:xfrm>
            <a:off x="868680" y="1152144"/>
            <a:ext cx="7863840" cy="329184"/>
          </a:xfrm>
          <a:prstGeom prst="rect">
            <a:avLst/>
          </a:prstGeom>
          <a:noFill/>
          <a:ln/>
        </p:spPr>
        <p:txBody>
          <a:bodyPr wrap="square" lIns="0" tIns="0" rIns="0" bIns="0" rtlCol="0" anchor="ctr"/>
          <a:lstStyle/>
          <a:p>
            <a:pPr indent="0" marL="0">
              <a:buNone/>
            </a:pPr>
            <a:r>
              <a:rPr lang="en-US" sz="1000" dirty="0">
                <a:solidFill>
                  <a:srgbClr val="1E293B"/>
                </a:solidFill>
              </a:rPr>
              <a:t>Fine-tuning BERT/FinBERT (110M params) sur RTX 5070 8Go → fp16 + gradient checkpointing + gradient accumulation + cap 85%. Sans ces optimisations : CUDA out-of-memory.</a:t>
            </a:r>
            <a:endParaRPr lang="en-US" sz="1000" dirty="0"/>
          </a:p>
        </p:txBody>
      </p:sp>
      <p:sp>
        <p:nvSpPr>
          <p:cNvPr id="12" name="Shape 10"/>
          <p:cNvSpPr/>
          <p:nvPr/>
        </p:nvSpPr>
        <p:spPr>
          <a:xfrm>
            <a:off x="320040" y="1618488"/>
            <a:ext cx="8503920" cy="713232"/>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13" name="Shape 11"/>
          <p:cNvSpPr/>
          <p:nvPr/>
        </p:nvSpPr>
        <p:spPr>
          <a:xfrm>
            <a:off x="320040" y="1618488"/>
            <a:ext cx="457200" cy="713232"/>
          </a:xfrm>
          <a:prstGeom prst="rect">
            <a:avLst/>
          </a:prstGeom>
          <a:solidFill>
            <a:srgbClr val="D35400"/>
          </a:solidFill>
          <a:ln w="12700">
            <a:solidFill>
              <a:srgbClr val="D35400"/>
            </a:solidFill>
            <a:prstDash val="solid"/>
          </a:ln>
        </p:spPr>
      </p:sp>
      <p:sp>
        <p:nvSpPr>
          <p:cNvPr id="14" name="Text 12"/>
          <p:cNvSpPr/>
          <p:nvPr/>
        </p:nvSpPr>
        <p:spPr>
          <a:xfrm>
            <a:off x="320040" y="1618488"/>
            <a:ext cx="457200" cy="71323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5" name="Text 13"/>
          <p:cNvSpPr/>
          <p:nvPr/>
        </p:nvSpPr>
        <p:spPr>
          <a:xfrm>
            <a:off x="868680" y="1664208"/>
            <a:ext cx="7863840" cy="274320"/>
          </a:xfrm>
          <a:prstGeom prst="rect">
            <a:avLst/>
          </a:prstGeom>
          <a:noFill/>
          <a:ln/>
        </p:spPr>
        <p:txBody>
          <a:bodyPr wrap="square" lIns="0" tIns="0" rIns="0" bIns="0" rtlCol="0" anchor="ctr"/>
          <a:lstStyle/>
          <a:p>
            <a:pPr indent="0" marL="0">
              <a:buNone/>
            </a:pPr>
            <a:r>
              <a:rPr lang="en-US" sz="1150" b="1" dirty="0">
                <a:solidFill>
                  <a:srgbClr val="D35400"/>
                </a:solidFill>
              </a:rPr>
              <a:t>PyTorch CUDA sur Windows</a:t>
            </a:r>
            <a:endParaRPr lang="en-US" sz="1150" dirty="0"/>
          </a:p>
        </p:txBody>
      </p:sp>
      <p:sp>
        <p:nvSpPr>
          <p:cNvPr id="16" name="Text 14"/>
          <p:cNvSpPr/>
          <p:nvPr/>
        </p:nvSpPr>
        <p:spPr>
          <a:xfrm>
            <a:off x="868680" y="1947672"/>
            <a:ext cx="7863840" cy="329184"/>
          </a:xfrm>
          <a:prstGeom prst="rect">
            <a:avLst/>
          </a:prstGeom>
          <a:noFill/>
          <a:ln/>
        </p:spPr>
        <p:txBody>
          <a:bodyPr wrap="square" lIns="0" tIns="0" rIns="0" bIns="0" rtlCol="0" anchor="ctr"/>
          <a:lstStyle/>
          <a:p>
            <a:pPr indent="0" marL="0">
              <a:buNone/>
            </a:pPr>
            <a:r>
              <a:rPr lang="en-US" sz="1000" dirty="0">
                <a:solidFill>
                  <a:srgbClr val="1E293B"/>
                </a:solidFill>
              </a:rPr>
              <a:t>pip install torch donne une version CPU-only. Solution : index pytorch-cu128 configuré dans pyproject.toml via [tool.uv.sources].</a:t>
            </a:r>
            <a:endParaRPr lang="en-US" sz="1000" dirty="0"/>
          </a:p>
        </p:txBody>
      </p:sp>
      <p:sp>
        <p:nvSpPr>
          <p:cNvPr id="17" name="Shape 15"/>
          <p:cNvSpPr/>
          <p:nvPr/>
        </p:nvSpPr>
        <p:spPr>
          <a:xfrm>
            <a:off x="320040" y="2414016"/>
            <a:ext cx="8503920" cy="713232"/>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18" name="Shape 16"/>
          <p:cNvSpPr/>
          <p:nvPr/>
        </p:nvSpPr>
        <p:spPr>
          <a:xfrm>
            <a:off x="320040" y="2414016"/>
            <a:ext cx="457200" cy="713232"/>
          </a:xfrm>
          <a:prstGeom prst="rect">
            <a:avLst/>
          </a:prstGeom>
          <a:solidFill>
            <a:srgbClr val="003D79"/>
          </a:solidFill>
          <a:ln w="12700">
            <a:solidFill>
              <a:srgbClr val="003D79"/>
            </a:solidFill>
            <a:prstDash val="solid"/>
          </a:ln>
        </p:spPr>
      </p:sp>
      <p:sp>
        <p:nvSpPr>
          <p:cNvPr id="19" name="Text 17"/>
          <p:cNvSpPr/>
          <p:nvPr/>
        </p:nvSpPr>
        <p:spPr>
          <a:xfrm>
            <a:off x="320040" y="2414016"/>
            <a:ext cx="457200" cy="71323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0" name="Text 18"/>
          <p:cNvSpPr/>
          <p:nvPr/>
        </p:nvSpPr>
        <p:spPr>
          <a:xfrm>
            <a:off x="868680" y="2459736"/>
            <a:ext cx="7863840" cy="274320"/>
          </a:xfrm>
          <a:prstGeom prst="rect">
            <a:avLst/>
          </a:prstGeom>
          <a:noFill/>
          <a:ln/>
        </p:spPr>
        <p:txBody>
          <a:bodyPr wrap="square" lIns="0" tIns="0" rIns="0" bIns="0" rtlCol="0" anchor="ctr"/>
          <a:lstStyle/>
          <a:p>
            <a:pPr indent="0" marL="0">
              <a:buNone/>
            </a:pPr>
            <a:r>
              <a:rPr lang="en-US" sz="1150" b="1" dirty="0">
                <a:solidFill>
                  <a:srgbClr val="003D79"/>
                </a:solidFill>
              </a:rPr>
              <a:t>Entrée vocale dans Streamlit</a:t>
            </a:r>
            <a:endParaRPr lang="en-US" sz="1150" dirty="0"/>
          </a:p>
        </p:txBody>
      </p:sp>
      <p:sp>
        <p:nvSpPr>
          <p:cNvPr id="21" name="Text 19"/>
          <p:cNvSpPr/>
          <p:nvPr/>
        </p:nvSpPr>
        <p:spPr>
          <a:xfrm>
            <a:off x="868680" y="2743200"/>
            <a:ext cx="7863840" cy="329184"/>
          </a:xfrm>
          <a:prstGeom prst="rect">
            <a:avLst/>
          </a:prstGeom>
          <a:noFill/>
          <a:ln/>
        </p:spPr>
        <p:txBody>
          <a:bodyPr wrap="square" lIns="0" tIns="0" rIns="0" bIns="0" rtlCol="0" anchor="ctr"/>
          <a:lstStyle/>
          <a:p>
            <a:pPr indent="0" marL="0">
              <a:buNone/>
            </a:pPr>
            <a:r>
              <a:rPr lang="en-US" sz="1000" dirty="0">
                <a:solidFill>
                  <a:srgbClr val="1E293B"/>
                </a:solidFill>
              </a:rPr>
              <a:t>Les iframes sandboxées bloquent le micro. Plusieurs approches échouées (st_javascript, components.html direct) avant de trouver l'injection dans le contexte parent.</a:t>
            </a:r>
            <a:endParaRPr lang="en-US" sz="1000" dirty="0"/>
          </a:p>
        </p:txBody>
      </p:sp>
      <p:sp>
        <p:nvSpPr>
          <p:cNvPr id="22" name="Shape 20"/>
          <p:cNvSpPr/>
          <p:nvPr/>
        </p:nvSpPr>
        <p:spPr>
          <a:xfrm>
            <a:off x="320040" y="3209544"/>
            <a:ext cx="8503920" cy="713232"/>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23" name="Shape 21"/>
          <p:cNvSpPr/>
          <p:nvPr/>
        </p:nvSpPr>
        <p:spPr>
          <a:xfrm>
            <a:off x="320040" y="3209544"/>
            <a:ext cx="457200" cy="713232"/>
          </a:xfrm>
          <a:prstGeom prst="rect">
            <a:avLst/>
          </a:prstGeom>
          <a:solidFill>
            <a:srgbClr val="6D4C41"/>
          </a:solidFill>
          <a:ln w="12700">
            <a:solidFill>
              <a:srgbClr val="6D4C41"/>
            </a:solidFill>
            <a:prstDash val="solid"/>
          </a:ln>
        </p:spPr>
      </p:sp>
      <p:sp>
        <p:nvSpPr>
          <p:cNvPr id="24" name="Text 22"/>
          <p:cNvSpPr/>
          <p:nvPr/>
        </p:nvSpPr>
        <p:spPr>
          <a:xfrm>
            <a:off x="320040" y="3209544"/>
            <a:ext cx="457200" cy="71323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5" name="Text 23"/>
          <p:cNvSpPr/>
          <p:nvPr/>
        </p:nvSpPr>
        <p:spPr>
          <a:xfrm>
            <a:off x="868680" y="3255264"/>
            <a:ext cx="7863840" cy="274320"/>
          </a:xfrm>
          <a:prstGeom prst="rect">
            <a:avLst/>
          </a:prstGeom>
          <a:noFill/>
          <a:ln/>
        </p:spPr>
        <p:txBody>
          <a:bodyPr wrap="square" lIns="0" tIns="0" rIns="0" bIns="0" rtlCol="0" anchor="ctr"/>
          <a:lstStyle/>
          <a:p>
            <a:pPr indent="0" marL="0">
              <a:buNone/>
            </a:pPr>
            <a:r>
              <a:rPr lang="en-US" sz="1150" b="1" dirty="0">
                <a:solidFill>
                  <a:srgbClr val="6D4C41"/>
                </a:solidFill>
              </a:rPr>
              <a:t>Synchronisation JS ↔ Streamlit</a:t>
            </a:r>
            <a:endParaRPr lang="en-US" sz="1150" dirty="0"/>
          </a:p>
        </p:txBody>
      </p:sp>
      <p:sp>
        <p:nvSpPr>
          <p:cNvPr id="26" name="Text 24"/>
          <p:cNvSpPr/>
          <p:nvPr/>
        </p:nvSpPr>
        <p:spPr>
          <a:xfrm>
            <a:off x="868680" y="3538728"/>
            <a:ext cx="7863840" cy="329184"/>
          </a:xfrm>
          <a:prstGeom prst="rect">
            <a:avLst/>
          </a:prstGeom>
          <a:noFill/>
          <a:ln/>
        </p:spPr>
        <p:txBody>
          <a:bodyPr wrap="square" lIns="0" tIns="0" rIns="0" bIns="0" rtlCol="0" anchor="ctr"/>
          <a:lstStyle/>
          <a:p>
            <a:pPr indent="0" marL="0">
              <a:buNone/>
            </a:pPr>
            <a:r>
              <a:rPr lang="en-US" sz="1000" dirty="0">
                <a:solidFill>
                  <a:srgbClr val="1E293B"/>
                </a:solidFill>
              </a:rPr>
              <a:t>Modification textarea via JS non détectée par Streamlit → setter natif HTMLTextAreaElement + événements synthétiques + callbacks on_click.</a:t>
            </a:r>
            <a:endParaRPr lang="en-US" sz="1000" dirty="0"/>
          </a:p>
        </p:txBody>
      </p:sp>
      <p:sp>
        <p:nvSpPr>
          <p:cNvPr id="27" name="Shape 25"/>
          <p:cNvSpPr/>
          <p:nvPr/>
        </p:nvSpPr>
        <p:spPr>
          <a:xfrm>
            <a:off x="320040" y="4005072"/>
            <a:ext cx="8503920" cy="713232"/>
          </a:xfrm>
          <a:prstGeom prst="rect">
            <a:avLst/>
          </a:prstGeom>
          <a:solidFill>
            <a:srgbClr val="FFFFFF"/>
          </a:solidFill>
          <a:ln w="12700">
            <a:solidFill>
              <a:srgbClr val="D1D5DB"/>
            </a:solidFill>
            <a:prstDash val="solid"/>
          </a:ln>
          <a:effectLst>
            <a:outerShdw sx="100000" sy="100000" kx="0" ky="0" algn="bl" rotWithShape="0" blurRad="63500" dist="25400" dir="8100000">
              <a:srgbClr val="000000">
                <a:alpha val="12000"/>
              </a:srgbClr>
            </a:outerShdw>
          </a:effectLst>
        </p:spPr>
      </p:sp>
      <p:sp>
        <p:nvSpPr>
          <p:cNvPr id="28" name="Shape 26"/>
          <p:cNvSpPr/>
          <p:nvPr/>
        </p:nvSpPr>
        <p:spPr>
          <a:xfrm>
            <a:off x="320040" y="4005072"/>
            <a:ext cx="457200" cy="713232"/>
          </a:xfrm>
          <a:prstGeom prst="rect">
            <a:avLst/>
          </a:prstGeom>
          <a:solidFill>
            <a:srgbClr val="1A5276"/>
          </a:solidFill>
          <a:ln w="12700">
            <a:solidFill>
              <a:srgbClr val="1A5276"/>
            </a:solidFill>
            <a:prstDash val="solid"/>
          </a:ln>
        </p:spPr>
      </p:sp>
      <p:sp>
        <p:nvSpPr>
          <p:cNvPr id="29" name="Text 27"/>
          <p:cNvSpPr/>
          <p:nvPr/>
        </p:nvSpPr>
        <p:spPr>
          <a:xfrm>
            <a:off x="320040" y="4005072"/>
            <a:ext cx="457200" cy="713232"/>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30" name="Text 28"/>
          <p:cNvSpPr/>
          <p:nvPr/>
        </p:nvSpPr>
        <p:spPr>
          <a:xfrm>
            <a:off x="868680" y="4050792"/>
            <a:ext cx="7863840" cy="274320"/>
          </a:xfrm>
          <a:prstGeom prst="rect">
            <a:avLst/>
          </a:prstGeom>
          <a:noFill/>
          <a:ln/>
        </p:spPr>
        <p:txBody>
          <a:bodyPr wrap="square" lIns="0" tIns="0" rIns="0" bIns="0" rtlCol="0" anchor="ctr"/>
          <a:lstStyle/>
          <a:p>
            <a:pPr indent="0" marL="0">
              <a:buNone/>
            </a:pPr>
            <a:r>
              <a:rPr lang="en-US" sz="1150" b="1" dirty="0">
                <a:solidFill>
                  <a:srgbClr val="1A5276"/>
                </a:solidFill>
              </a:rPr>
              <a:t>Déséquilibre des classes</a:t>
            </a:r>
            <a:endParaRPr lang="en-US" sz="1150" dirty="0"/>
          </a:p>
        </p:txBody>
      </p:sp>
      <p:sp>
        <p:nvSpPr>
          <p:cNvPr id="31" name="Text 29"/>
          <p:cNvSpPr/>
          <p:nvPr/>
        </p:nvSpPr>
        <p:spPr>
          <a:xfrm>
            <a:off x="868680" y="4334256"/>
            <a:ext cx="7863840" cy="329184"/>
          </a:xfrm>
          <a:prstGeom prst="rect">
            <a:avLst/>
          </a:prstGeom>
          <a:noFill/>
          <a:ln/>
        </p:spPr>
        <p:txBody>
          <a:bodyPr wrap="square" lIns="0" tIns="0" rIns="0" bIns="0" rtlCol="0" anchor="ctr"/>
          <a:lstStyle/>
          <a:p>
            <a:pPr indent="0" marL="0">
              <a:buNone/>
            </a:pPr>
            <a:r>
              <a:rPr lang="en-US" sz="1000" dirty="0">
                <a:solidFill>
                  <a:srgbClr val="1E293B"/>
                </a:solidFill>
              </a:rPr>
              <a:t>BiLSTM prédit systématiquement «neutral» → 0% recall sur «negative». Confirmation que le pré-entraînement est indispensable sur des datasets spécialisés de petite taille.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3D79"/>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Shape 1"/>
          <p:cNvSpPr/>
          <p:nvPr/>
        </p:nvSpPr>
        <p:spPr>
          <a:xfrm>
            <a:off x="0" y="5070348"/>
            <a:ext cx="9144000" cy="73152"/>
          </a:xfrm>
          <a:prstGeom prst="rect">
            <a:avLst/>
          </a:prstGeom>
          <a:solidFill>
            <a:srgbClr val="C9A84C"/>
          </a:solidFill>
          <a:ln w="12700">
            <a:solidFill>
              <a:srgbClr val="C9A84C"/>
            </a:solidFill>
            <a:prstDash val="solid"/>
          </a:ln>
        </p:spPr>
      </p:sp>
      <p:sp>
        <p:nvSpPr>
          <p:cNvPr id="4" name="Text 2"/>
          <p:cNvSpPr/>
          <p:nvPr/>
        </p:nvSpPr>
        <p:spPr>
          <a:xfrm>
            <a:off x="457200" y="274320"/>
            <a:ext cx="8229600" cy="502920"/>
          </a:xfrm>
          <a:prstGeom prst="rect">
            <a:avLst/>
          </a:prstGeom>
          <a:noFill/>
          <a:ln/>
        </p:spPr>
        <p:txBody>
          <a:bodyPr wrap="square" lIns="0" tIns="0" rIns="0" bIns="0" rtlCol="0" anchor="ctr"/>
          <a:lstStyle/>
          <a:p>
            <a:pPr indent="0" marL="0">
              <a:buNone/>
            </a:pPr>
            <a:r>
              <a:rPr lang="en-US" sz="2200" b="1" dirty="0">
                <a:solidFill>
                  <a:srgbClr val="FFFFFF"/>
                </a:solidFill>
              </a:rPr>
              <a:t>Conclusion &amp; Perspectives</a:t>
            </a:r>
            <a:endParaRPr lang="en-US" sz="2200" dirty="0"/>
          </a:p>
        </p:txBody>
      </p:sp>
      <p:sp>
        <p:nvSpPr>
          <p:cNvPr id="5" name="Shape 3"/>
          <p:cNvSpPr/>
          <p:nvPr/>
        </p:nvSpPr>
        <p:spPr>
          <a:xfrm>
            <a:off x="457200" y="868680"/>
            <a:ext cx="8229600" cy="960120"/>
          </a:xfrm>
          <a:prstGeom prst="rect">
            <a:avLst/>
          </a:prstGeom>
          <a:solidFill>
            <a:srgbClr val="002860"/>
          </a:solidFill>
          <a:ln w="12700">
            <a:solidFill>
              <a:srgbClr val="C9A84C"/>
            </a:solidFill>
            <a:prstDash val="solid"/>
          </a:ln>
        </p:spPr>
      </p:sp>
      <p:sp>
        <p:nvSpPr>
          <p:cNvPr id="6" name="Text 4"/>
          <p:cNvSpPr/>
          <p:nvPr/>
        </p:nvSpPr>
        <p:spPr>
          <a:xfrm>
            <a:off x="594360" y="896112"/>
            <a:ext cx="7955280" cy="905256"/>
          </a:xfrm>
          <a:prstGeom prst="rect">
            <a:avLst/>
          </a:prstGeom>
          <a:noFill/>
          <a:ln/>
        </p:spPr>
        <p:txBody>
          <a:bodyPr wrap="square" lIns="0" tIns="0" rIns="0" bIns="0" rtlCol="0" anchor="ctr"/>
          <a:lstStyle/>
          <a:p>
            <a:pPr indent="0" marL="0">
              <a:buNone/>
            </a:pPr>
            <a:r>
              <a:rPr lang="en-US" sz="1150" b="1" dirty="0">
                <a:solidFill>
                  <a:srgbClr val="FFFFFF"/>
                </a:solidFill>
              </a:rPr>
              <a:t>FinBERT domine le benchmark </a:t>
            </a:r>
            <a:pPr indent="0" marL="0">
              <a:buNone/>
            </a:pPr>
            <a:r>
              <a:rPr lang="en-US" sz="1150" dirty="0">
                <a:solidFill>
                  <a:srgbClr val="FFFFFF"/>
                </a:solidFill>
              </a:rPr>
              <a:t>avec un macro-F1 de </a:t>
            </a:r>
            <a:pPr indent="0" marL="0">
              <a:buNone/>
            </a:pPr>
            <a:r>
              <a:rPr lang="en-US" sz="1150" b="1" dirty="0">
                <a:solidFill>
                  <a:srgbClr val="C9A84C"/>
                </a:solidFill>
              </a:rPr>
              <a:t>87.7%</a:t>
            </a:r>
            <a:pPr indent="0" marL="0">
              <a:buNone/>
            </a:pPr>
            <a:r>
              <a:rPr lang="en-US" sz="1150" dirty="0">
                <a:solidFill>
                  <a:srgbClr val="FFFFFF"/>
                </a:solidFill>
              </a:rPr>
              <a:t>. Le pré-entraînement spécifique au domaine financier est le facteur déterminant sur un petit dataset spécialisé. LIME confirme au niveau des mots que FinBERT identifie les bons signaux sémantiques là où les modèles génériques peuvent se laisser égarer.</a:t>
            </a:r>
            <a:endParaRPr lang="en-US" sz="1150" dirty="0"/>
          </a:p>
        </p:txBody>
      </p:sp>
      <p:sp>
        <p:nvSpPr>
          <p:cNvPr id="7" name="Text 5"/>
          <p:cNvSpPr/>
          <p:nvPr/>
        </p:nvSpPr>
        <p:spPr>
          <a:xfrm>
            <a:off x="457200" y="1920240"/>
            <a:ext cx="4572000" cy="292608"/>
          </a:xfrm>
          <a:prstGeom prst="rect">
            <a:avLst/>
          </a:prstGeom>
          <a:noFill/>
          <a:ln/>
        </p:spPr>
        <p:txBody>
          <a:bodyPr wrap="square" lIns="0" tIns="0" rIns="0" bIns="0" rtlCol="0" anchor="ctr"/>
          <a:lstStyle/>
          <a:p>
            <a:pPr indent="0" marL="0">
              <a:buNone/>
            </a:pPr>
            <a:r>
              <a:rPr lang="en-US" sz="1200" b="1" dirty="0">
                <a:solidFill>
                  <a:srgbClr val="C9A84C"/>
                </a:solidFill>
              </a:rPr>
              <a:t>Enseignements clés</a:t>
            </a:r>
            <a:endParaRPr lang="en-US" sz="1200" dirty="0"/>
          </a:p>
        </p:txBody>
      </p:sp>
      <p:sp>
        <p:nvSpPr>
          <p:cNvPr id="8" name="Text 6"/>
          <p:cNvSpPr/>
          <p:nvPr/>
        </p:nvSpPr>
        <p:spPr>
          <a:xfrm>
            <a:off x="457200" y="2240280"/>
            <a:ext cx="4572000" cy="237744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C8D8E8"/>
                </a:solidFill>
              </a:rPr>
              <a:t>Le paradigme « pre-train then fine-tune » est décisif quand les données sont rares</a:t>
            </a:r>
            <a:endParaRPr lang="en-US" sz="1050" dirty="0"/>
          </a:p>
          <a:p>
            <a:pPr marL="342900" indent="-342900">
              <a:spcAft>
                <a:spcPts val="600"/>
              </a:spcAft>
              <a:buSzPct val="100000"/>
              <a:buChar char="•"/>
            </a:pPr>
            <a:r>
              <a:rPr lang="en-US" sz="1050" dirty="0">
                <a:solidFill>
                  <a:srgbClr val="C8D8E8"/>
                </a:solidFill>
              </a:rPr>
              <a:t>DistilBERT &gt; BERT sur petit dataset : la compacité réduit l'overfitting</a:t>
            </a:r>
            <a:endParaRPr lang="en-US" sz="1050" dirty="0"/>
          </a:p>
          <a:p>
            <a:pPr marL="342900" indent="-342900">
              <a:spcAft>
                <a:spcPts val="600"/>
              </a:spcAft>
              <a:buSzPct val="100000"/>
              <a:buChar char="•"/>
            </a:pPr>
            <a:r>
              <a:rPr lang="en-US" sz="1050" dirty="0">
                <a:solidFill>
                  <a:srgbClr val="C8D8E8"/>
                </a:solidFill>
              </a:rPr>
              <a:t>L'accuracy seule est trompeuse → toujours reporter le macro-F1</a:t>
            </a:r>
            <a:endParaRPr lang="en-US" sz="1050" dirty="0"/>
          </a:p>
          <a:p>
            <a:pPr marL="342900" indent="-342900">
              <a:spcAft>
                <a:spcPts val="600"/>
              </a:spcAft>
              <a:buSzPct val="100000"/>
              <a:buChar char="•"/>
            </a:pPr>
            <a:r>
              <a:rPr lang="en-US" sz="1050" dirty="0">
                <a:solidFill>
                  <a:srgbClr val="C8D8E8"/>
                </a:solidFill>
              </a:rPr>
              <a:t>BiLSTM : architecture pertinente mais insuffisante sans pré-entraînement</a:t>
            </a:r>
            <a:endParaRPr lang="en-US" sz="1050" dirty="0"/>
          </a:p>
        </p:txBody>
      </p:sp>
      <p:sp>
        <p:nvSpPr>
          <p:cNvPr id="9" name="Text 7"/>
          <p:cNvSpPr/>
          <p:nvPr/>
        </p:nvSpPr>
        <p:spPr>
          <a:xfrm>
            <a:off x="5303520" y="1920240"/>
            <a:ext cx="3383280" cy="292608"/>
          </a:xfrm>
          <a:prstGeom prst="rect">
            <a:avLst/>
          </a:prstGeom>
          <a:noFill/>
          <a:ln/>
        </p:spPr>
        <p:txBody>
          <a:bodyPr wrap="square" lIns="0" tIns="0" rIns="0" bIns="0" rtlCol="0" anchor="ctr"/>
          <a:lstStyle/>
          <a:p>
            <a:pPr indent="0" marL="0">
              <a:buNone/>
            </a:pPr>
            <a:r>
              <a:rPr lang="en-US" sz="1200" b="1" dirty="0">
                <a:solidFill>
                  <a:srgbClr val="C9A84C"/>
                </a:solidFill>
              </a:rPr>
              <a:t>Perspectives</a:t>
            </a:r>
            <a:endParaRPr lang="en-US" sz="1200" dirty="0"/>
          </a:p>
        </p:txBody>
      </p:sp>
      <p:sp>
        <p:nvSpPr>
          <p:cNvPr id="10" name="Text 8"/>
          <p:cNvSpPr/>
          <p:nvPr/>
        </p:nvSpPr>
        <p:spPr>
          <a:xfrm>
            <a:off x="5303520" y="2240280"/>
            <a:ext cx="3383280" cy="237744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C8D8E8"/>
                </a:solidFill>
              </a:rPr>
              <a:t>Élargir le dataset (SEC filings, earnings calls)</a:t>
            </a:r>
            <a:endParaRPr lang="en-US" sz="1050" dirty="0"/>
          </a:p>
          <a:p>
            <a:pPr marL="342900" indent="-342900">
              <a:spcAft>
                <a:spcPts val="600"/>
              </a:spcAft>
              <a:buSzPct val="100000"/>
              <a:buChar char="•"/>
            </a:pPr>
            <a:r>
              <a:rPr lang="en-US" sz="1050" dirty="0">
                <a:solidFill>
                  <a:srgbClr val="C8D8E8"/>
                </a:solidFill>
              </a:rPr>
              <a:t>DeBERTa, LLMs few-shot (GPT-4, Mistral)</a:t>
            </a:r>
            <a:endParaRPr lang="en-US" sz="1050" dirty="0"/>
          </a:p>
          <a:p>
            <a:pPr marL="342900" indent="-342900">
              <a:spcAft>
                <a:spcPts val="600"/>
              </a:spcAft>
              <a:buSzPct val="100000"/>
              <a:buChar char="•"/>
            </a:pPr>
            <a:r>
              <a:rPr lang="en-US" sz="1050" dirty="0">
                <a:solidFill>
                  <a:srgbClr val="C8D8E8"/>
                </a:solidFill>
              </a:rPr>
              <a:t>Déploiement cloud + API REST</a:t>
            </a:r>
            <a:endParaRPr lang="en-US" sz="1050" dirty="0"/>
          </a:p>
          <a:p>
            <a:pPr marL="342900" indent="-342900">
              <a:spcAft>
                <a:spcPts val="600"/>
              </a:spcAft>
              <a:buSzPct val="100000"/>
              <a:buChar char="•"/>
            </a:pPr>
            <a:r>
              <a:rPr lang="en-US" sz="1050" dirty="0">
                <a:solidFill>
                  <a:srgbClr val="C8D8E8"/>
                </a:solidFill>
              </a:rPr>
              <a:t>Analyse multi-langue (français, allemand)</a:t>
            </a:r>
            <a:endParaRPr lang="en-US" sz="1050" dirty="0"/>
          </a:p>
        </p:txBody>
      </p:sp>
      <p:sp>
        <p:nvSpPr>
          <p:cNvPr id="11" name="Text 9"/>
          <p:cNvSpPr/>
          <p:nvPr/>
        </p:nvSpPr>
        <p:spPr>
          <a:xfrm>
            <a:off x="457200" y="4663440"/>
            <a:ext cx="8229600" cy="320040"/>
          </a:xfrm>
          <a:prstGeom prst="rect">
            <a:avLst/>
          </a:prstGeom>
          <a:noFill/>
          <a:ln/>
        </p:spPr>
        <p:txBody>
          <a:bodyPr wrap="square" lIns="0" tIns="0" rIns="0" bIns="0" rtlCol="0" anchor="ctr"/>
          <a:lstStyle/>
          <a:p>
            <a:pPr algn="ctr" indent="0" marL="0">
              <a:buNone/>
            </a:pPr>
            <a:r>
              <a:rPr lang="en-US" sz="1300" b="1" dirty="0">
                <a:solidFill>
                  <a:srgbClr val="FFFFFF"/>
                </a:solidFill>
              </a:rPr>
              <a:t>Merci de votre attention  —  Place à la démonstration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Sentiment Analysis</dc:title>
  <dc:subject>PptxGenJS Presentation</dc:subject>
  <dc:creator>PptxGenJS</dc:creator>
  <cp:lastModifiedBy>PptxGenJS</cp:lastModifiedBy>
  <cp:revision>1</cp:revision>
  <dcterms:created xsi:type="dcterms:W3CDTF">2026-04-09T15:28:21Z</dcterms:created>
  <dcterms:modified xsi:type="dcterms:W3CDTF">2026-04-09T15:28:21Z</dcterms:modified>
</cp:coreProperties>
</file>